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9" r:id="rId3"/>
    <p:sldId id="256" r:id="rId4"/>
    <p:sldId id="257" r:id="rId6"/>
    <p:sldId id="264" r:id="rId7"/>
    <p:sldId id="258" r:id="rId8"/>
    <p:sldId id="262" r:id="rId9"/>
    <p:sldId id="263" r:id="rId10"/>
    <p:sldId id="266" r:id="rId11"/>
    <p:sldId id="268" r:id="rId12"/>
    <p:sldId id="267" r:id="rId13"/>
    <p:sldId id="269" r:id="rId14"/>
    <p:sldId id="276" r:id="rId15"/>
    <p:sldId id="265" r:id="rId16"/>
    <p:sldId id="272" r:id="rId17"/>
    <p:sldId id="273" r:id="rId18"/>
    <p:sldId id="270" r:id="rId19"/>
    <p:sldId id="275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8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31149767" name="ysj" initials="y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9"/>
        <p:guide pos="38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1.</a:t>
            </a:r>
            <a:r>
              <a:rPr lang="zh-CN" altLang="en-US"/>
              <a:t>多重任务这个功能可以不要，留着也行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序列选择</a:t>
            </a:r>
            <a:r>
              <a:rPr lang="en-US" altLang="zh-CN"/>
              <a:t> </a:t>
            </a:r>
            <a:r>
              <a:rPr lang="zh-CN" altLang="en-US"/>
              <a:t>读两个文件</a:t>
            </a:r>
            <a:r>
              <a:rPr lang="en-US" altLang="zh-CN"/>
              <a:t> 4</a:t>
            </a:r>
            <a:r>
              <a:rPr lang="zh-CN" altLang="en-US"/>
              <a:t>个下拉选择</a:t>
            </a:r>
            <a:r>
              <a:rPr lang="zh-CN" altLang="en-US">
                <a:sym typeface="+mn-ea"/>
              </a:rPr>
              <a:t>，需要依次选择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病毒种名、分型、宿主、宿主基因组版本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病毒种名，可多选，当多选时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病毒分型固定为</a:t>
            </a:r>
            <a:r>
              <a:rPr lang="en-US" altLang="zh-CN">
                <a:sym typeface="+mn-ea"/>
              </a:rPr>
              <a:t>“ALL”</a:t>
            </a:r>
            <a:endParaRPr lang="en-US" altLang="zh-CN">
              <a:sym typeface="+mn-ea"/>
            </a:endParaRPr>
          </a:p>
          <a:p>
            <a:r>
              <a:rPr lang="zh-CN" altLang="en-US">
                <a:sym typeface="+mn-ea"/>
              </a:rPr>
              <a:t>当病毒种名单选一个内容时，病毒分型可以多选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宿主及宿主基因组版本，仅单选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文件的列类似</a:t>
            </a:r>
            <a:r>
              <a:rPr lang="en-US" altLang="zh-CN">
                <a:sym typeface="+mn-ea"/>
              </a:rPr>
              <a:t>hash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 key1 key2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文件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格式：</a:t>
            </a:r>
            <a:endParaRPr lang="zh-CN" altLang="en-US">
              <a:sym typeface="+mn-ea"/>
            </a:endParaRPr>
          </a:p>
          <a:p>
            <a:r>
              <a:rPr lang="zh-CN" altLang="en-US"/>
              <a:t>病毒名称</a:t>
            </a:r>
            <a:r>
              <a:rPr lang="en-US" altLang="zh-CN"/>
              <a:t>	</a:t>
            </a:r>
            <a:r>
              <a:rPr lang="zh-CN" altLang="en-US"/>
              <a:t>病毒分型</a:t>
            </a:r>
            <a:endParaRPr lang="en-US" altLang="zh-CN"/>
          </a:p>
          <a:p>
            <a:r>
              <a:rPr lang="en-US" altLang="zh-CN"/>
              <a:t>ALL     ALL</a:t>
            </a:r>
            <a:endParaRPr lang="en-US" altLang="zh-CN"/>
          </a:p>
          <a:p>
            <a:r>
              <a:rPr lang="en-US" altLang="zh-CN"/>
              <a:t>Adenoviridae    ALL</a:t>
            </a:r>
            <a:endParaRPr lang="en-US" altLang="zh-CN"/>
          </a:p>
          <a:p>
            <a:r>
              <a:rPr lang="en-US" altLang="zh-CN"/>
              <a:t>Adenoviridae    HAdVF</a:t>
            </a:r>
            <a:endParaRPr lang="en-US" altLang="zh-CN"/>
          </a:p>
          <a:p>
            <a:r>
              <a:rPr lang="en-US" altLang="zh-CN"/>
              <a:t>Adenoviridae    HadV40 </a:t>
            </a:r>
            <a:endParaRPr lang="en-US" altLang="zh-CN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文件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格式：</a:t>
            </a:r>
            <a:endParaRPr lang="zh-CN" altLang="en-US">
              <a:sym typeface="+mn-ea"/>
            </a:endParaRPr>
          </a:p>
          <a:p>
            <a:r>
              <a:rPr lang="zh-CN" altLang="en-US"/>
              <a:t>宿主</a:t>
            </a:r>
            <a:r>
              <a:rPr lang="en-US" altLang="zh-CN"/>
              <a:t>	</a:t>
            </a:r>
            <a:r>
              <a:rPr lang="zh-CN" altLang="en-US">
                <a:sym typeface="+mn-ea"/>
              </a:rPr>
              <a:t>宿主</a:t>
            </a:r>
            <a:r>
              <a:rPr lang="zh-CN" altLang="en-US">
                <a:sym typeface="+mn-ea"/>
              </a:rPr>
              <a:t>基因组版本</a:t>
            </a:r>
            <a:endParaRPr lang="en-US" altLang="zh-CN"/>
          </a:p>
          <a:p>
            <a:r>
              <a:rPr lang="en-US" altLang="zh-CN"/>
              <a:t>ALL     ALL</a:t>
            </a:r>
            <a:endParaRPr lang="en-US" altLang="zh-CN"/>
          </a:p>
          <a:p>
            <a:r>
              <a:rPr lang="en-US" altLang="zh-CN"/>
              <a:t>human   ALL</a:t>
            </a:r>
            <a:endParaRPr lang="en-US" altLang="zh-CN"/>
          </a:p>
          <a:p>
            <a:r>
              <a:rPr lang="en-US" altLang="zh-CN"/>
              <a:t>human   hg19</a:t>
            </a:r>
            <a:endParaRPr lang="en-US" altLang="zh-CN"/>
          </a:p>
          <a:p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3.</a:t>
            </a:r>
            <a:r>
              <a:rPr lang="zh-CN">
                <a:sym typeface="+mn-ea"/>
              </a:rPr>
              <a:t>自行填写自定义数据库名称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（字母、数字、下划线）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需要根据一个文件检查这个数据库名是否已经存在</a:t>
            </a:r>
            <a:r>
              <a:rPr lang="en-US" altLang="zh-CN">
                <a:sym typeface="+mn-ea"/>
              </a:rPr>
              <a:t>  </a:t>
            </a:r>
            <a:r>
              <a:rPr lang="zh-CN" altLang="en-US">
                <a:sym typeface="+mn-ea"/>
              </a:rPr>
              <a:t>如果已经存在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需要弹出窗口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提示该数据库已经存在请另取他名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并展示已有的数据库路径</a:t>
            </a:r>
            <a:endParaRPr lang="zh-CN" altLang="en-US"/>
          </a:p>
          <a:p>
            <a:r>
              <a:rPr lang="zh-CN" altLang="en-US"/>
              <a:t>文件格式为：</a:t>
            </a:r>
            <a:endParaRPr lang="en-US" altLang="zh-CN"/>
          </a:p>
          <a:p>
            <a:r>
              <a:rPr lang="en-US" altLang="zh-CN"/>
              <a:t>hg19_ALL        human_hg19.ALL_ALL      /data/yinsj/work/2024.12.19xianbindu_lunzhuangbindu/customize_ref_db/hg19_ALL/hg19_ALL.fasta</a:t>
            </a:r>
            <a:endParaRPr lang="en-US" altLang="zh-CN"/>
          </a:p>
          <a:p>
            <a:r>
              <a:rPr lang="zh-CN" altLang="en-US"/>
              <a:t>第一列是数据库名称</a:t>
            </a:r>
            <a:r>
              <a:rPr lang="en-US" altLang="zh-CN"/>
              <a:t> </a:t>
            </a:r>
            <a:r>
              <a:rPr lang="zh-CN" altLang="en-US"/>
              <a:t>第二列是数据库建库时程序自动整理的关键词</a:t>
            </a:r>
            <a:r>
              <a:rPr lang="en-US" altLang="zh-CN"/>
              <a:t> </a:t>
            </a:r>
            <a:r>
              <a:rPr lang="zh-CN" altLang="en-US"/>
              <a:t>第三列是数据库</a:t>
            </a:r>
            <a:r>
              <a:rPr lang="en-US" altLang="zh-CN"/>
              <a:t>fasta</a:t>
            </a:r>
            <a:r>
              <a:rPr lang="zh-CN" altLang="en-US"/>
              <a:t>文件路径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4.</a:t>
            </a:r>
            <a:r>
              <a:rPr lang="zh-CN" altLang="en-US"/>
              <a:t>点击信息汇总后</a:t>
            </a:r>
            <a:endParaRPr lang="zh-CN" altLang="en-US"/>
          </a:p>
          <a:p>
            <a:r>
              <a:rPr lang="zh-CN" altLang="en-US"/>
              <a:t>依据</a:t>
            </a:r>
            <a:r>
              <a:rPr lang="en-US" altLang="zh-CN"/>
              <a:t>2</a:t>
            </a:r>
            <a:r>
              <a:rPr lang="zh-CN" altLang="en-US"/>
              <a:t>中的选择的内容运行一个脚本，得到一个表格，自动在</a:t>
            </a:r>
            <a:r>
              <a:rPr lang="en-US" altLang="zh-CN"/>
              <a:t>5</a:t>
            </a:r>
            <a:r>
              <a:rPr lang="zh-CN" altLang="en-US"/>
              <a:t>中显示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5.</a:t>
            </a:r>
            <a:r>
              <a:rPr lang="zh-CN" altLang="en-US"/>
              <a:t>表格可以左右滚动，行数可能会比较多需要翻页的功能，</a:t>
            </a:r>
            <a:r>
              <a:rPr lang="zh-CN"/>
              <a:t>可以通过表格右边删除选项删除整行内容</a:t>
            </a:r>
            <a:endParaRPr lang="zh-CN"/>
          </a:p>
          <a:p>
            <a:endParaRPr lang="zh-CN" altLang="en-US"/>
          </a:p>
          <a:p>
            <a:endParaRPr lang="zh-CN" altLang="en-US"/>
          </a:p>
          <a:p>
            <a:r>
              <a:rPr lang="en-US" altLang="zh-CN"/>
              <a:t>6.</a:t>
            </a:r>
            <a:r>
              <a:rPr lang="zh-CN" altLang="en-US"/>
              <a:t>点击创建基因组</a:t>
            </a:r>
            <a:endParaRPr lang="zh-CN"/>
          </a:p>
          <a:p>
            <a:r>
              <a:rPr lang="zh-CN" altLang="en-US"/>
              <a:t>将</a:t>
            </a:r>
            <a:r>
              <a:rPr lang="en-US" altLang="zh-CN"/>
              <a:t>4</a:t>
            </a:r>
            <a:r>
              <a:rPr lang="zh-CN" altLang="en-US"/>
              <a:t>中表格内容存为一个文件</a:t>
            </a:r>
            <a:r>
              <a:rPr lang="en-US" altLang="zh-CN"/>
              <a:t> </a:t>
            </a:r>
            <a:r>
              <a:rPr lang="zh-CN" altLang="en-US"/>
              <a:t>，由一个脚本读此文件进行参考基因组创建</a:t>
            </a:r>
            <a:endParaRPr lang="zh-CN" altLang="en-US"/>
          </a:p>
          <a:p>
            <a:r>
              <a:rPr lang="zh-CN" altLang="en-US"/>
              <a:t>上述</a:t>
            </a:r>
            <a:r>
              <a:rPr lang="en-US" altLang="zh-CN"/>
              <a:t>2</a:t>
            </a:r>
            <a:r>
              <a:rPr lang="zh-CN" altLang="en-US"/>
              <a:t>不选，只填</a:t>
            </a:r>
            <a:r>
              <a:rPr lang="en-US" altLang="zh-CN"/>
              <a:t>3</a:t>
            </a:r>
            <a:r>
              <a:rPr lang="zh-CN" altLang="en-US"/>
              <a:t>和</a:t>
            </a:r>
            <a:r>
              <a:rPr lang="en-US" altLang="zh-CN"/>
              <a:t>5 </a:t>
            </a:r>
            <a:r>
              <a:rPr lang="zh-CN" altLang="en-US"/>
              <a:t>也可以跑流程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br>
              <a:rPr lang="zh-CN" altLang="en-US"/>
            </a:b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点击</a:t>
            </a:r>
            <a:r>
              <a:rPr lang="en-US" altLang="zh-CN"/>
              <a:t>4</a:t>
            </a:r>
            <a:r>
              <a:rPr lang="zh-CN" altLang="en-US"/>
              <a:t>后出现数据选择页面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读取包含基因组路径的文件</a:t>
            </a:r>
            <a:r>
              <a:rPr lang="en-US" altLang="zh-CN"/>
              <a:t> </a:t>
            </a:r>
            <a:r>
              <a:rPr lang="zh-CN" altLang="en-US"/>
              <a:t>用于</a:t>
            </a:r>
            <a:r>
              <a:rPr lang="zh-CN" altLang="en-US">
                <a:sym typeface="+mn-ea"/>
              </a:rPr>
              <a:t>自定义参数中</a:t>
            </a:r>
            <a:r>
              <a:rPr lang="en-US" altLang="zh-CN"/>
              <a:t>GENOME</a:t>
            </a:r>
            <a:r>
              <a:rPr lang="zh-CN" altLang="en-US"/>
              <a:t>的下拉选择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数据选择分</a:t>
            </a:r>
            <a:r>
              <a:rPr lang="en-US" altLang="zh-CN"/>
              <a:t> </a:t>
            </a:r>
            <a:r>
              <a:rPr lang="zh-CN" altLang="en-US"/>
              <a:t>样本名</a:t>
            </a:r>
            <a:r>
              <a:rPr lang="en-US" altLang="zh-CN"/>
              <a:t> </a:t>
            </a:r>
            <a:r>
              <a:rPr lang="zh-CN" altLang="en-US"/>
              <a:t>数据</a:t>
            </a:r>
            <a:r>
              <a:rPr lang="en-US" altLang="zh-CN"/>
              <a:t> </a:t>
            </a:r>
            <a:r>
              <a:rPr lang="zh-CN" altLang="en-US"/>
              <a:t>和抽样比例</a:t>
            </a:r>
            <a:br>
              <a:rPr lang="zh-CN" altLang="en-US"/>
            </a:br>
            <a:r>
              <a:rPr lang="zh-CN" altLang="en-US"/>
              <a:t>样本名为必填</a:t>
            </a:r>
            <a:r>
              <a:rPr lang="en-US" altLang="zh-CN"/>
              <a:t> </a:t>
            </a:r>
            <a:r>
              <a:rPr lang="zh-CN" altLang="en-US"/>
              <a:t>无特殊符号的文本格式，可以继承自选择数据时读的文件，但可以修改</a:t>
            </a:r>
            <a:endParaRPr lang="zh-CN" altLang="en-US"/>
          </a:p>
          <a:p>
            <a:r>
              <a:rPr lang="zh-CN" altLang="en-US">
                <a:sym typeface="+mn-ea"/>
              </a:rPr>
              <a:t>选择数据</a:t>
            </a:r>
            <a:r>
              <a:rPr lang="zh-CN" altLang="en-US"/>
              <a:t>为必填，</a:t>
            </a:r>
            <a:r>
              <a:rPr lang="en-US" altLang="zh-CN"/>
              <a:t>R1</a:t>
            </a:r>
            <a:r>
              <a:rPr lang="zh-CN" altLang="en-US"/>
              <a:t>必填，</a:t>
            </a:r>
            <a:r>
              <a:rPr lang="en-US" altLang="zh-CN"/>
              <a:t>R2</a:t>
            </a:r>
            <a:r>
              <a:rPr lang="zh-CN" altLang="en-US"/>
              <a:t>选填，无</a:t>
            </a:r>
            <a:r>
              <a:rPr lang="en-US" altLang="zh-CN"/>
              <a:t>R2</a:t>
            </a:r>
            <a:r>
              <a:rPr lang="zh-CN" altLang="en-US"/>
              <a:t>是自动填充</a:t>
            </a:r>
            <a:r>
              <a:rPr lang="en-US" altLang="zh-CN"/>
              <a:t>“-”</a:t>
            </a:r>
            <a:endParaRPr lang="zh-CN" altLang="en-US"/>
          </a:p>
          <a:p>
            <a:r>
              <a:rPr lang="zh-CN" altLang="en-US">
                <a:sym typeface="+mn-ea"/>
              </a:rPr>
              <a:t>抽样比例为选填，</a:t>
            </a:r>
            <a:r>
              <a:rPr lang="en-US" altLang="zh-CN">
                <a:sym typeface="+mn-ea"/>
              </a:rPr>
              <a:t>0-1</a:t>
            </a:r>
            <a:r>
              <a:rPr lang="zh-CN" altLang="en-US">
                <a:sym typeface="+mn-ea"/>
              </a:rPr>
              <a:t>的小数，没有填的</a:t>
            </a:r>
            <a:r>
              <a:rPr lang="zh-CN" altLang="en-US">
                <a:sym typeface="+mn-ea"/>
              </a:rPr>
              <a:t>时候自动录入</a:t>
            </a:r>
            <a:r>
              <a:rPr lang="en-US" altLang="zh-CN">
                <a:sym typeface="+mn-ea"/>
              </a:rPr>
              <a:t> “-”</a:t>
            </a:r>
            <a:endParaRPr lang="en-US" altLang="zh-CN"/>
          </a:p>
          <a:p>
            <a:r>
              <a:rPr lang="zh-CN" altLang="en-US">
                <a:sym typeface="+mn-ea"/>
              </a:rPr>
              <a:t>新增数据也是同样的格式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#</a:t>
            </a:r>
            <a:r>
              <a:rPr lang="zh-CN" altLang="en-US"/>
              <a:t>抽样原因</a:t>
            </a:r>
            <a:endParaRPr lang="zh-CN" altLang="en-US"/>
          </a:p>
          <a:p>
            <a:r>
              <a:rPr lang="zh-CN" altLang="en-US"/>
              <a:t>单菌种</a:t>
            </a:r>
            <a:r>
              <a:rPr lang="en-US" altLang="zh-CN"/>
              <a:t>read</a:t>
            </a:r>
            <a:r>
              <a:rPr lang="zh-CN" altLang="en-US"/>
              <a:t>数量过多时，组装耗时较久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读一个文件显示在表格里面</a:t>
            </a:r>
            <a:endParaRPr lang="zh-CN" altLang="en-US"/>
          </a:p>
          <a:p>
            <a:r>
              <a:rPr lang="zh-CN" altLang="en-US"/>
              <a:t>点击</a:t>
            </a:r>
            <a:r>
              <a:rPr lang="en-US" altLang="zh-CN"/>
              <a:t>”</a:t>
            </a:r>
            <a:r>
              <a:rPr lang="zh-CN" altLang="en-US"/>
              <a:t>显示</a:t>
            </a:r>
            <a:r>
              <a:rPr lang="en-US" altLang="zh-CN"/>
              <a:t>“</a:t>
            </a:r>
            <a:r>
              <a:rPr lang="zh-CN" altLang="en-US"/>
              <a:t>，会弹出来一个图片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读一个文件显示在表格里面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点击</a:t>
            </a:r>
            <a:r>
              <a:rPr lang="en-US" altLang="zh-CN"/>
              <a:t>“</a:t>
            </a:r>
            <a:r>
              <a:rPr lang="zh-CN" altLang="en-US"/>
              <a:t>下载组装序列</a:t>
            </a:r>
            <a:r>
              <a:rPr lang="en-US" altLang="zh-CN"/>
              <a:t>” </a:t>
            </a:r>
            <a:r>
              <a:rPr lang="zh-CN" altLang="en-US"/>
              <a:t>，将组装文件和当前表格下载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>
                <a:sym typeface="+mn-ea"/>
              </a:rPr>
              <a:t>读一个文件显示在表格里面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点击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显示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，会打开一个网页</a:t>
            </a:r>
            <a:endParaRPr lang="zh-CN" altLang="en-US">
              <a:sym typeface="+mn-ea"/>
            </a:endParaRPr>
          </a:p>
          <a:p>
            <a:endParaRPr lang="zh-CN" altLang="en-US"/>
          </a:p>
          <a:p>
            <a:r>
              <a:rPr lang="zh-CN" altLang="en-US"/>
              <a:t>点击</a:t>
            </a:r>
            <a:r>
              <a:rPr lang="en-US" altLang="zh-CN"/>
              <a:t>“</a:t>
            </a:r>
            <a:r>
              <a:rPr lang="zh-CN" altLang="en-US"/>
              <a:t>下载</a:t>
            </a:r>
            <a:r>
              <a:rPr lang="en-US" altLang="zh-CN"/>
              <a:t>”</a:t>
            </a:r>
            <a:r>
              <a:rPr lang="zh-CN" altLang="en-US"/>
              <a:t>会压缩这个路径的文件进行下载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点击</a:t>
            </a:r>
            <a:r>
              <a:rPr lang="en-US" altLang="zh-CN"/>
              <a:t>4</a:t>
            </a:r>
            <a:r>
              <a:rPr lang="zh-CN" altLang="en-US"/>
              <a:t>后出现数据选择页面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读取包含基因组路径的文件</a:t>
            </a:r>
            <a:r>
              <a:rPr lang="en-US" altLang="zh-CN"/>
              <a:t> </a:t>
            </a:r>
            <a:r>
              <a:rPr lang="zh-CN" altLang="en-US"/>
              <a:t>用于</a:t>
            </a:r>
            <a:r>
              <a:rPr lang="zh-CN" altLang="en-US">
                <a:sym typeface="+mn-ea"/>
              </a:rPr>
              <a:t>自定义参数中</a:t>
            </a:r>
            <a:r>
              <a:rPr lang="en-US" altLang="zh-CN"/>
              <a:t>GENOME</a:t>
            </a:r>
            <a:r>
              <a:rPr lang="zh-CN" altLang="en-US"/>
              <a:t>的下拉选择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数据选择分</a:t>
            </a:r>
            <a:r>
              <a:rPr lang="en-US" altLang="zh-CN"/>
              <a:t> </a:t>
            </a:r>
            <a:r>
              <a:rPr lang="zh-CN" altLang="en-US"/>
              <a:t>样本名</a:t>
            </a:r>
            <a:r>
              <a:rPr lang="en-US" altLang="zh-CN"/>
              <a:t> </a:t>
            </a:r>
            <a:r>
              <a:rPr lang="zh-CN" altLang="en-US"/>
              <a:t>数据</a:t>
            </a:r>
            <a:r>
              <a:rPr lang="en-US" altLang="zh-CN"/>
              <a:t> </a:t>
            </a:r>
            <a:br>
              <a:rPr lang="zh-CN" altLang="en-US"/>
            </a:br>
            <a:r>
              <a:rPr lang="zh-CN" altLang="en-US"/>
              <a:t>样本名为必填</a:t>
            </a:r>
            <a:r>
              <a:rPr lang="en-US" altLang="zh-CN"/>
              <a:t> </a:t>
            </a:r>
            <a:r>
              <a:rPr lang="zh-CN" altLang="en-US"/>
              <a:t>无特殊符号的文本格式，可以继承自选择数据时读的文件，但可以修改</a:t>
            </a:r>
            <a:endParaRPr lang="zh-CN" altLang="en-US"/>
          </a:p>
          <a:p>
            <a:r>
              <a:rPr lang="zh-CN" altLang="en-US">
                <a:sym typeface="+mn-ea"/>
              </a:rPr>
              <a:t>选择数据</a:t>
            </a:r>
            <a:r>
              <a:rPr lang="zh-CN" altLang="en-US"/>
              <a:t>为必填，</a:t>
            </a:r>
            <a:r>
              <a:rPr lang="en-US" altLang="zh-CN">
                <a:sym typeface="+mn-ea"/>
              </a:rPr>
              <a:t>R1</a:t>
            </a:r>
            <a:r>
              <a:rPr lang="zh-CN" altLang="en-US">
                <a:sym typeface="+mn-ea"/>
              </a:rPr>
              <a:t>必填，</a:t>
            </a:r>
            <a:r>
              <a:rPr lang="en-US" altLang="zh-CN">
                <a:sym typeface="+mn-ea"/>
              </a:rPr>
              <a:t>R2</a:t>
            </a:r>
            <a:r>
              <a:rPr lang="zh-CN" altLang="en-US">
                <a:sym typeface="+mn-ea"/>
              </a:rPr>
              <a:t>选填，无</a:t>
            </a:r>
            <a:r>
              <a:rPr lang="en-US" altLang="zh-CN">
                <a:sym typeface="+mn-ea"/>
              </a:rPr>
              <a:t>R2</a:t>
            </a:r>
            <a:r>
              <a:rPr lang="zh-CN" altLang="en-US">
                <a:sym typeface="+mn-ea"/>
              </a:rPr>
              <a:t>时自动填充</a:t>
            </a:r>
            <a:r>
              <a:rPr lang="en-US" altLang="zh-CN">
                <a:sym typeface="+mn-ea"/>
              </a:rPr>
              <a:t>“-”</a:t>
            </a:r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r>
              <a:rPr lang="zh-CN" altLang="en-US">
                <a:sym typeface="+mn-ea"/>
              </a:rPr>
              <a:t>新增数据也是同样的格式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读一个表格</a:t>
            </a:r>
            <a:endParaRPr lang="zh-CN" altLang="en-US"/>
          </a:p>
          <a:p>
            <a:r>
              <a:rPr lang="zh-CN" altLang="en-US"/>
              <a:t>点击</a:t>
            </a:r>
            <a:r>
              <a:rPr lang="en-US" altLang="zh-CN"/>
              <a:t>“</a:t>
            </a:r>
            <a:r>
              <a:rPr lang="zh-CN" altLang="en-US"/>
              <a:t>下载</a:t>
            </a:r>
            <a:r>
              <a:rPr lang="en-US" altLang="zh-CN"/>
              <a:t>”</a:t>
            </a:r>
            <a:r>
              <a:rPr lang="zh-CN" altLang="en-US"/>
              <a:t>可以打包下载对应文件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放一个图，加绘图信息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点击</a:t>
            </a:r>
            <a:r>
              <a:rPr lang="en-US" altLang="zh-CN"/>
              <a:t>“</a:t>
            </a:r>
            <a:r>
              <a:rPr lang="zh-CN" altLang="en-US"/>
              <a:t>序列下载</a:t>
            </a:r>
            <a:r>
              <a:rPr lang="en-US" altLang="zh-CN"/>
              <a:t>”</a:t>
            </a:r>
            <a:r>
              <a:rPr lang="zh-CN" altLang="en-US"/>
              <a:t>可以下载所有序列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032250" y="3122930"/>
            <a:ext cx="4208145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自建参考基因组流程</a:t>
            </a:r>
            <a:endParaRPr lang="zh-CN" alt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120" y="1825625"/>
            <a:ext cx="10017760" cy="39744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" y="900430"/>
            <a:ext cx="10923905" cy="4933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3730" y="388620"/>
            <a:ext cx="2304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自建参考基因组流程</a:t>
            </a:r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10011410" y="900430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椭圆 11"/>
          <p:cNvSpPr/>
          <p:nvPr/>
        </p:nvSpPr>
        <p:spPr>
          <a:xfrm>
            <a:off x="10793730" y="2134870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3" name="文本框 12"/>
          <p:cNvSpPr txBox="1"/>
          <p:nvPr/>
        </p:nvSpPr>
        <p:spPr>
          <a:xfrm>
            <a:off x="2130425" y="6391910"/>
            <a:ext cx="7931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不需要填写数据，直接创建任务，流程选择</a:t>
            </a:r>
            <a:r>
              <a:rPr lang="en-US" altLang="zh-CN"/>
              <a:t>  “</a:t>
            </a:r>
            <a:r>
              <a:rPr lang="zh-CN" altLang="en-US">
                <a:sym typeface="+mn-ea"/>
              </a:rPr>
              <a:t>自建参考基因组</a:t>
            </a:r>
            <a:r>
              <a:rPr lang="en-US" altLang="zh-CN"/>
              <a:t>”</a:t>
            </a:r>
            <a:endParaRPr lang="en-US" altLang="zh-CN"/>
          </a:p>
        </p:txBody>
      </p:sp>
      <p:sp>
        <p:nvSpPr>
          <p:cNvPr id="15" name="椭圆 14"/>
          <p:cNvSpPr/>
          <p:nvPr/>
        </p:nvSpPr>
        <p:spPr>
          <a:xfrm>
            <a:off x="927735" y="3118485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6" name="椭圆 15"/>
          <p:cNvSpPr/>
          <p:nvPr/>
        </p:nvSpPr>
        <p:spPr>
          <a:xfrm>
            <a:off x="10061575" y="5589905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1550035" y="3276600"/>
            <a:ext cx="1315720" cy="152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自建参考基因组</a:t>
            </a:r>
            <a:endParaRPr lang="zh-CN" altLang="en-US" sz="1200"/>
          </a:p>
        </p:txBody>
      </p:sp>
      <p:sp>
        <p:nvSpPr>
          <p:cNvPr id="18" name="矩形 17"/>
          <p:cNvSpPr/>
          <p:nvPr/>
        </p:nvSpPr>
        <p:spPr>
          <a:xfrm>
            <a:off x="1794510" y="5582920"/>
            <a:ext cx="1315720" cy="15240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自建参考基因组</a:t>
            </a:r>
            <a:endParaRPr lang="zh-CN" alt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l="349" b="1310"/>
          <a:stretch>
            <a:fillRect/>
          </a:stretch>
        </p:blipFill>
        <p:spPr>
          <a:xfrm>
            <a:off x="215265" y="719455"/>
            <a:ext cx="11771630" cy="4543425"/>
          </a:xfrm>
          <a:prstGeom prst="rect">
            <a:avLst/>
          </a:prstGeom>
          <a:ln>
            <a:noFill/>
          </a:ln>
        </p:spPr>
      </p:pic>
      <p:sp>
        <p:nvSpPr>
          <p:cNvPr id="5" name="矩形 4"/>
          <p:cNvSpPr/>
          <p:nvPr/>
        </p:nvSpPr>
        <p:spPr>
          <a:xfrm>
            <a:off x="892810" y="3444240"/>
            <a:ext cx="10857230" cy="1177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92810" y="2489835"/>
            <a:ext cx="114808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/>
              <a:t>病毒种名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892810" y="2308860"/>
            <a:ext cx="10857230" cy="2635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241415" y="2468245"/>
            <a:ext cx="114808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/>
              <a:t>病毒分型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0513695" y="4316095"/>
            <a:ext cx="1148080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p>
            <a:r>
              <a:rPr lang="zh-CN" altLang="en-US"/>
              <a:t>信息汇总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 flipV="1">
            <a:off x="10983595" y="4741545"/>
            <a:ext cx="775970" cy="4965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921385" y="2028190"/>
            <a:ext cx="991870" cy="37528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r>
              <a:rPr lang="zh-CN" sz="1200"/>
              <a:t>序列选择：</a:t>
            </a:r>
            <a:endParaRPr lang="zh-CN" sz="1200"/>
          </a:p>
        </p:txBody>
      </p:sp>
      <p:sp>
        <p:nvSpPr>
          <p:cNvPr id="2" name="矩形 1"/>
          <p:cNvSpPr/>
          <p:nvPr/>
        </p:nvSpPr>
        <p:spPr>
          <a:xfrm>
            <a:off x="561975" y="1423035"/>
            <a:ext cx="1964690" cy="1377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200">
                <a:sym typeface="+mn-ea"/>
              </a:rPr>
              <a:t>数据库整理</a:t>
            </a:r>
            <a:endParaRPr lang="zh-CN" altLang="en-US" sz="1200"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259195" y="1423035"/>
            <a:ext cx="1964690" cy="1377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22" name="表格 21"/>
          <p:cNvGraphicFramePr/>
          <p:nvPr>
            <p:custDataLst>
              <p:tags r:id="rId2"/>
            </p:custDataLst>
          </p:nvPr>
        </p:nvGraphicFramePr>
        <p:xfrm>
          <a:off x="1287145" y="5116195"/>
          <a:ext cx="10021570" cy="1181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5975"/>
                <a:gridCol w="1567180"/>
                <a:gridCol w="1699895"/>
                <a:gridCol w="1290955"/>
                <a:gridCol w="1689100"/>
                <a:gridCol w="1688465"/>
              </a:tblGrid>
              <a:tr h="3937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原序列路径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株系名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序列</a:t>
                      </a:r>
                      <a:r>
                        <a:rPr lang="en-US" altLang="zh-CN"/>
                        <a:t>ID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分类信息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序列原名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是否删除</a:t>
                      </a:r>
                      <a:endParaRPr lang="zh-CN" altLang="en-US"/>
                    </a:p>
                  </a:txBody>
                  <a:tcPr/>
                </a:tc>
              </a:tr>
              <a:tr h="3937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删除</a:t>
                      </a:r>
                      <a:endParaRPr lang="zh-CN" altLang="en-US"/>
                    </a:p>
                  </a:txBody>
                  <a:tcPr/>
                </a:tc>
              </a:tr>
              <a:tr h="3937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0247630" y="6445250"/>
            <a:ext cx="1414145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p>
            <a:r>
              <a:rPr lang="zh-CN" altLang="en-US"/>
              <a:t>创建基因组</a:t>
            </a:r>
            <a:endParaRPr lang="zh-CN" altLang="en-US"/>
          </a:p>
        </p:txBody>
      </p:sp>
      <p:sp>
        <p:nvSpPr>
          <p:cNvPr id="25" name="椭圆 24"/>
          <p:cNvSpPr/>
          <p:nvPr/>
        </p:nvSpPr>
        <p:spPr>
          <a:xfrm>
            <a:off x="0" y="1998345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26" name="椭圆 25"/>
          <p:cNvSpPr/>
          <p:nvPr/>
        </p:nvSpPr>
        <p:spPr>
          <a:xfrm>
            <a:off x="620395" y="2768600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7" name="椭圆 26"/>
          <p:cNvSpPr/>
          <p:nvPr/>
        </p:nvSpPr>
        <p:spPr>
          <a:xfrm>
            <a:off x="10111105" y="4326255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8" name="椭圆 27"/>
          <p:cNvSpPr/>
          <p:nvPr/>
        </p:nvSpPr>
        <p:spPr>
          <a:xfrm>
            <a:off x="674370" y="4808855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cxnSp>
        <p:nvCxnSpPr>
          <p:cNvPr id="6" name="直接连接符 5"/>
          <p:cNvCxnSpPr/>
          <p:nvPr/>
        </p:nvCxnSpPr>
        <p:spPr>
          <a:xfrm flipV="1">
            <a:off x="1038860" y="3945255"/>
            <a:ext cx="2978150" cy="13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974090" y="3540125"/>
            <a:ext cx="214376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/>
              <a:t>自定义数据库名</a:t>
            </a: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921385" y="2985135"/>
            <a:ext cx="5557520" cy="4610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911860" y="3028950"/>
            <a:ext cx="114808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/>
              <a:t>宿主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76975" y="3011170"/>
            <a:ext cx="214376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宿主</a:t>
            </a:r>
            <a:r>
              <a:rPr lang="zh-CN" altLang="en-US"/>
              <a:t>基因组版本</a:t>
            </a:r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984885" y="3420745"/>
            <a:ext cx="5159375" cy="63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/>
        </p:nvCxnSpPr>
        <p:spPr>
          <a:xfrm flipV="1">
            <a:off x="6308725" y="3385185"/>
            <a:ext cx="2978150" cy="133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620395" y="3573145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4" name="椭圆 13"/>
          <p:cNvSpPr/>
          <p:nvPr/>
        </p:nvSpPr>
        <p:spPr>
          <a:xfrm>
            <a:off x="10247630" y="6112510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215265" y="125730"/>
            <a:ext cx="2304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自建参考基因组流程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" name="文本框 19"/>
          <p:cNvSpPr txBox="1"/>
          <p:nvPr/>
        </p:nvSpPr>
        <p:spPr>
          <a:xfrm>
            <a:off x="215265" y="125730"/>
            <a:ext cx="2304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自建参考基因组流程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075305" y="581660"/>
            <a:ext cx="6137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该流程无结果展示页面，仅有进度页面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" y="2214245"/>
            <a:ext cx="11925300" cy="2428875"/>
          </a:xfrm>
          <a:prstGeom prst="rect">
            <a:avLst/>
          </a:prstGeom>
        </p:spPr>
      </p:pic>
      <p:sp>
        <p:nvSpPr>
          <p:cNvPr id="17" name="矩形 16"/>
          <p:cNvSpPr/>
          <p:nvPr/>
        </p:nvSpPr>
        <p:spPr>
          <a:xfrm>
            <a:off x="7028815" y="4231005"/>
            <a:ext cx="1315720" cy="28194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自建参考基因组</a:t>
            </a:r>
            <a:endParaRPr lang="zh-CN" altLang="en-US" sz="1200"/>
          </a:p>
        </p:txBody>
      </p:sp>
      <p:sp>
        <p:nvSpPr>
          <p:cNvPr id="6" name="矩形 5"/>
          <p:cNvSpPr/>
          <p:nvPr/>
        </p:nvSpPr>
        <p:spPr>
          <a:xfrm>
            <a:off x="10176510" y="4231005"/>
            <a:ext cx="518160" cy="411480"/>
          </a:xfrm>
          <a:prstGeom prst="rect">
            <a:avLst/>
          </a:prstGeom>
          <a:noFill/>
          <a:ln w="28575" cmpd="sng">
            <a:solidFill>
              <a:srgbClr val="FF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箭头连接符 6"/>
          <p:cNvCxnSpPr>
            <a:stCxn id="6" idx="2"/>
          </p:cNvCxnSpPr>
          <p:nvPr/>
        </p:nvCxnSpPr>
        <p:spPr>
          <a:xfrm flipH="1">
            <a:off x="10423525" y="4642485"/>
            <a:ext cx="12065" cy="2940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058400" y="4936490"/>
            <a:ext cx="11811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这里为灰色不可选中</a:t>
            </a: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 flipH="1">
            <a:off x="756920" y="4231005"/>
            <a:ext cx="781050" cy="36830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516120" y="3122930"/>
            <a:ext cx="3256280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/>
              <a:t>多样本组装及比对流程</a:t>
            </a:r>
            <a:endParaRPr lang="zh-CN" alt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120" y="1825625"/>
            <a:ext cx="10017760" cy="39744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" y="900430"/>
            <a:ext cx="10923905" cy="493395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10011410" y="900430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椭圆 11"/>
          <p:cNvSpPr/>
          <p:nvPr/>
        </p:nvSpPr>
        <p:spPr>
          <a:xfrm>
            <a:off x="10793730" y="2134870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5" name="椭圆 14"/>
          <p:cNvSpPr/>
          <p:nvPr/>
        </p:nvSpPr>
        <p:spPr>
          <a:xfrm>
            <a:off x="927735" y="3118485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6" name="椭圆 15"/>
          <p:cNvSpPr/>
          <p:nvPr/>
        </p:nvSpPr>
        <p:spPr>
          <a:xfrm>
            <a:off x="10061575" y="5589905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1550035" y="3257550"/>
            <a:ext cx="1732280" cy="171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多样本组装及比对</a:t>
            </a:r>
            <a:endParaRPr lang="zh-CN" altLang="en-US" sz="1200"/>
          </a:p>
        </p:txBody>
      </p:sp>
      <p:sp>
        <p:nvSpPr>
          <p:cNvPr id="18" name="矩形 17"/>
          <p:cNvSpPr/>
          <p:nvPr/>
        </p:nvSpPr>
        <p:spPr>
          <a:xfrm>
            <a:off x="1794510" y="5589905"/>
            <a:ext cx="1667510" cy="1454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多样本组装及比对</a:t>
            </a:r>
            <a:endParaRPr lang="zh-CN" altLang="en-US" sz="1200"/>
          </a:p>
        </p:txBody>
      </p:sp>
      <p:sp>
        <p:nvSpPr>
          <p:cNvPr id="20" name="文本框 19"/>
          <p:cNvSpPr txBox="1"/>
          <p:nvPr/>
        </p:nvSpPr>
        <p:spPr>
          <a:xfrm>
            <a:off x="215265" y="125730"/>
            <a:ext cx="3066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多样本组装及比对</a:t>
            </a:r>
            <a:r>
              <a:rPr lang="zh-CN" altLang="en-US">
                <a:sym typeface="+mn-ea"/>
              </a:rPr>
              <a:t>流程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172210" y="1179195"/>
            <a:ext cx="1579880" cy="21463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多样本组装及比对</a:t>
            </a:r>
            <a:endParaRPr lang="zh-CN" altLang="en-US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 rot="0">
            <a:off x="105410" y="493395"/>
            <a:ext cx="11365230" cy="6280785"/>
            <a:chOff x="-3140" y="-3297"/>
            <a:chExt cx="17898" cy="989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3140" y="-3297"/>
              <a:ext cx="17535" cy="9495"/>
            </a:xfrm>
            <a:prstGeom prst="rect">
              <a:avLst/>
            </a:prstGeom>
          </p:spPr>
        </p:pic>
        <p:grpSp>
          <p:nvGrpSpPr>
            <p:cNvPr id="6" name="组合 5"/>
            <p:cNvGrpSpPr/>
            <p:nvPr/>
          </p:nvGrpSpPr>
          <p:grpSpPr>
            <a:xfrm>
              <a:off x="2331" y="4814"/>
              <a:ext cx="12427" cy="1780"/>
              <a:chOff x="2331" y="4814"/>
              <a:chExt cx="12427" cy="1780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2331" y="5409"/>
                <a:ext cx="12427" cy="9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p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10149" y="4814"/>
                <a:ext cx="4455" cy="178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p>
                <a:endParaRPr lang="zh-CN" altLang="en-US"/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958850" y="4461510"/>
            <a:ext cx="8822690" cy="6254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15265" y="125730"/>
            <a:ext cx="3066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多样本组装及比对</a:t>
            </a:r>
            <a:r>
              <a:rPr lang="zh-CN" altLang="en-US">
                <a:sym typeface="+mn-ea"/>
              </a:rPr>
              <a:t>流程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590675" y="4735830"/>
            <a:ext cx="1263650" cy="2813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样本名</a:t>
            </a:r>
            <a:endParaRPr lang="zh-CN" altLang="en-US" sz="1200"/>
          </a:p>
        </p:txBody>
      </p:sp>
      <p:sp>
        <p:nvSpPr>
          <p:cNvPr id="9" name="矩形 8"/>
          <p:cNvSpPr/>
          <p:nvPr/>
        </p:nvSpPr>
        <p:spPr>
          <a:xfrm>
            <a:off x="2981325" y="4735830"/>
            <a:ext cx="5235575" cy="28194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选择数据</a:t>
            </a:r>
            <a:endParaRPr lang="zh-CN" altLang="en-US" sz="1200"/>
          </a:p>
        </p:txBody>
      </p:sp>
      <p:sp>
        <p:nvSpPr>
          <p:cNvPr id="17" name="矩形 16"/>
          <p:cNvSpPr/>
          <p:nvPr/>
        </p:nvSpPr>
        <p:spPr>
          <a:xfrm>
            <a:off x="8343900" y="4736465"/>
            <a:ext cx="1226185" cy="28130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抽样比例</a:t>
            </a:r>
            <a:endParaRPr lang="zh-CN" altLang="en-US" sz="1200"/>
          </a:p>
        </p:txBody>
      </p:sp>
      <p:sp>
        <p:nvSpPr>
          <p:cNvPr id="12" name="矩形 11"/>
          <p:cNvSpPr/>
          <p:nvPr/>
        </p:nvSpPr>
        <p:spPr>
          <a:xfrm>
            <a:off x="9633585" y="4761230"/>
            <a:ext cx="1226185" cy="28130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删除</a:t>
            </a:r>
            <a:endParaRPr lang="zh-CN" altLang="en-US" sz="1200"/>
          </a:p>
        </p:txBody>
      </p:sp>
      <p:sp>
        <p:nvSpPr>
          <p:cNvPr id="13" name="文本框 12"/>
          <p:cNvSpPr txBox="1"/>
          <p:nvPr/>
        </p:nvSpPr>
        <p:spPr>
          <a:xfrm>
            <a:off x="958215" y="3503295"/>
            <a:ext cx="9901555" cy="5289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949950" y="2955925"/>
            <a:ext cx="5036820" cy="10756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249670" y="2955925"/>
            <a:ext cx="4438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是否进行组装</a:t>
            </a:r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6214110" y="3314700"/>
            <a:ext cx="4478020" cy="9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" y="1433195"/>
            <a:ext cx="11649075" cy="39909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77340" y="1884680"/>
            <a:ext cx="64516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bwa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3670300" y="1884680"/>
            <a:ext cx="154749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组装鉴定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93410" y="1884680"/>
            <a:ext cx="166624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有参组装评估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35265" y="1884680"/>
            <a:ext cx="239077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多样本比对信息汇总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6245" y="28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BWA</a:t>
            </a:r>
            <a:r>
              <a:rPr lang="zh-CN" altLang="en-US"/>
              <a:t>结果展示界面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4990" y="2778125"/>
            <a:ext cx="11238865" cy="256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846455" y="2856865"/>
          <a:ext cx="10028555" cy="1123950"/>
        </p:xfrm>
        <a:graphic>
          <a:graphicData uri="http://schemas.openxmlformats.org/drawingml/2006/table">
            <a:tbl>
              <a:tblPr/>
              <a:tblGrid>
                <a:gridCol w="911860"/>
                <a:gridCol w="1518920"/>
                <a:gridCol w="1520190"/>
                <a:gridCol w="1518920"/>
                <a:gridCol w="1519555"/>
                <a:gridCol w="1519555"/>
                <a:gridCol w="1519555"/>
              </a:tblGrid>
              <a:tr h="37465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样本名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匹配参考序列名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整体匹配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read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单独匹配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read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参考序列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覆盖度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map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区域平均深度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单独匹配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read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分布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465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8_S15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CHN-2018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819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3463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0.314792960131356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20.0194468674637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查看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465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8_S15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CHN-2019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819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0.3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查看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" y="1433195"/>
            <a:ext cx="11649075" cy="39909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77340" y="1884680"/>
            <a:ext cx="64516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bwa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3670300" y="1884680"/>
            <a:ext cx="154749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组装鉴定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93410" y="1884680"/>
            <a:ext cx="166624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有参组装评估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35265" y="1884680"/>
            <a:ext cx="239077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多样本比对信息汇总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6245" y="28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>
                <a:sym typeface="+mn-ea"/>
              </a:rPr>
              <a:t>contigs</a:t>
            </a:r>
            <a:r>
              <a:rPr lang="zh-CN" altLang="en-US">
                <a:sym typeface="+mn-ea"/>
              </a:rPr>
              <a:t>及比对展示界面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4990" y="2778125"/>
            <a:ext cx="11238865" cy="256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846455" y="2856865"/>
          <a:ext cx="10028555" cy="2267585"/>
        </p:xfrm>
        <a:graphic>
          <a:graphicData uri="http://schemas.openxmlformats.org/drawingml/2006/table">
            <a:tbl>
              <a:tblPr/>
              <a:tblGrid>
                <a:gridCol w="385775"/>
                <a:gridCol w="642602"/>
                <a:gridCol w="643140"/>
                <a:gridCol w="642599"/>
                <a:gridCol w="642871"/>
                <a:gridCol w="642869"/>
                <a:gridCol w="642869"/>
                <a:gridCol w="642870"/>
                <a:gridCol w="642869"/>
                <a:gridCol w="642871"/>
                <a:gridCol w="642869"/>
                <a:gridCol w="642871"/>
                <a:gridCol w="642868"/>
                <a:gridCol w="642871"/>
                <a:gridCol w="642870"/>
                <a:gridCol w="642871"/>
              </a:tblGrid>
              <a:tr h="37465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样本名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contig name 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contig length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ref name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pct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match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length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mismatch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gap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congtig start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congtig end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ref start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ref end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evalue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scoere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best match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Suspected match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465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contig.00001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3384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CHN-2022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99.696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3274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3309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5768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9060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0.0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6026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END:OP850449.1_A_VP1_G8P8(3283/3302)|s:5758|e:9060|rs:5768|re:9060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4650"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out_bed:OP850397.1_A_NSP2_G8P8(64/1059)|s:1666|e:2725|rs:8867|re:8785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8229600" y="2395220"/>
            <a:ext cx="239077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下载组装序列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" y="1433195"/>
            <a:ext cx="11649075" cy="39909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77340" y="1884680"/>
            <a:ext cx="64516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bwa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3670300" y="1884680"/>
            <a:ext cx="154749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组装鉴定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93410" y="1884680"/>
            <a:ext cx="166624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有参组装评估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35265" y="1884680"/>
            <a:ext cx="239077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多样本比对信息汇总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6245" y="28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有参组装评估</a:t>
            </a:r>
            <a:r>
              <a:rPr lang="zh-CN" altLang="en-US"/>
              <a:t>结果展示界面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4990" y="2778125"/>
            <a:ext cx="11238865" cy="256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554355" y="2847340"/>
          <a:ext cx="11114405" cy="916305"/>
        </p:xfrm>
        <a:graphic>
          <a:graphicData uri="http://schemas.openxmlformats.org/drawingml/2006/table">
            <a:tbl>
              <a:tblPr/>
              <a:tblGrid>
                <a:gridCol w="529590"/>
                <a:gridCol w="881380"/>
                <a:gridCol w="882650"/>
                <a:gridCol w="881380"/>
                <a:gridCol w="882015"/>
                <a:gridCol w="882650"/>
                <a:gridCol w="882015"/>
                <a:gridCol w="882015"/>
                <a:gridCol w="882015"/>
                <a:gridCol w="882015"/>
                <a:gridCol w="882650"/>
                <a:gridCol w="882650"/>
                <a:gridCol w="881380"/>
              </a:tblGrid>
              <a:tr h="52959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样本名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参考序列名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组装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contigs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contigs 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length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Reference length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contigs</a:t>
                      </a:r>
                      <a:endParaRPr lang="en-US" altLang="zh-CN" sz="110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GC%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Reference GC (%)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N50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N90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mismatches per 100 kbp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Total aligned length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detail result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结果下载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86715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8_S15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CHN-2018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494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19489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29.96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32.04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494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494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1162.79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86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查看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下载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" y="1433195"/>
            <a:ext cx="11649075" cy="39909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77340" y="1884680"/>
            <a:ext cx="64516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bwa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3670300" y="1884680"/>
            <a:ext cx="154749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组装鉴定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93410" y="1884680"/>
            <a:ext cx="166624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有参组装评估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35265" y="1884680"/>
            <a:ext cx="239077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多样本</a:t>
            </a:r>
            <a:r>
              <a:rPr lang="zh-CN" altLang="en-US">
                <a:sym typeface="+mn-ea"/>
              </a:rPr>
              <a:t>株系</a:t>
            </a:r>
            <a:r>
              <a:rPr lang="zh-CN" altLang="en-US"/>
              <a:t>信息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6245" y="28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多样本株系信息</a:t>
            </a:r>
            <a:r>
              <a:rPr lang="zh-CN" altLang="en-US"/>
              <a:t>展示界面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4990" y="2778125"/>
            <a:ext cx="11238865" cy="256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554355" y="3026410"/>
          <a:ext cx="10582910" cy="2332355"/>
        </p:xfrm>
        <a:graphic>
          <a:graphicData uri="http://schemas.openxmlformats.org/drawingml/2006/table">
            <a:tbl>
              <a:tblPr/>
              <a:tblGrid>
                <a:gridCol w="1765195"/>
                <a:gridCol w="2937709"/>
                <a:gridCol w="2937709"/>
                <a:gridCol w="2942297"/>
              </a:tblGrid>
              <a:tr h="44450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株系名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匹配样本及排序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样本及比对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read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匹配样本数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580"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CHN-2021-G8P8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5_S12(1)|7_S14(1)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5_S12(1123)|7_S14(112)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0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CHN-2022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5_S12(2)|7_S14(2)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5_S12(111)|7_S14(112)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0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THA-2014-G8P8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5_S12(3)|7_S14(3)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5_S12(13)|7_S14(13)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0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JPN-2017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5_S12(4)|7_S14(4)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5_S12(4)|7_S14(4)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0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CHN-2018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8_S15(1)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8_S15(11111)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0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Croatia-2021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8_S15(2)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8_S15(112)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" y="1433195"/>
            <a:ext cx="11649075" cy="39909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77340" y="1884680"/>
            <a:ext cx="64516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bwa</a:t>
            </a:r>
            <a:endParaRPr lang="en-US" altLang="zh-CN"/>
          </a:p>
        </p:txBody>
      </p:sp>
      <p:sp>
        <p:nvSpPr>
          <p:cNvPr id="4" name="矩形 3"/>
          <p:cNvSpPr/>
          <p:nvPr/>
        </p:nvSpPr>
        <p:spPr>
          <a:xfrm>
            <a:off x="3670300" y="1884680"/>
            <a:ext cx="154749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组装鉴定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693410" y="1884680"/>
            <a:ext cx="166624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有参组装评估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35265" y="1884680"/>
            <a:ext cx="239077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多样本</a:t>
            </a:r>
            <a:r>
              <a:rPr lang="zh-CN" altLang="en-US">
                <a:sym typeface="+mn-ea"/>
              </a:rPr>
              <a:t>株系</a:t>
            </a:r>
            <a:r>
              <a:rPr lang="zh-CN" altLang="en-US"/>
              <a:t>信息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6245" y="28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数据质控</a:t>
            </a:r>
            <a:r>
              <a:rPr lang="zh-CN" altLang="en-US"/>
              <a:t>展示界面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54990" y="2778125"/>
            <a:ext cx="11238865" cy="256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554355" y="3026410"/>
          <a:ext cx="10582910" cy="2332355"/>
        </p:xfrm>
        <a:graphic>
          <a:graphicData uri="http://schemas.openxmlformats.org/drawingml/2006/table">
            <a:tbl>
              <a:tblPr/>
              <a:tblGrid>
                <a:gridCol w="962447"/>
                <a:gridCol w="1601743"/>
                <a:gridCol w="1601742"/>
                <a:gridCol w="1604244"/>
                <a:gridCol w="1604244"/>
                <a:gridCol w="1604245"/>
                <a:gridCol w="1604245"/>
              </a:tblGrid>
              <a:tr h="444500"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样本名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总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read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fastp read</a:t>
                      </a:r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数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Q20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sym typeface="+mn-ea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Q30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宿主</a:t>
                      </a: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read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占比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中靶率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580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5_S12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0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7_S14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0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8_S15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515485" y="3122930"/>
            <a:ext cx="3256280" cy="475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/>
              <a:t>多样本突变检测与建树</a:t>
            </a:r>
            <a:endParaRPr lang="zh-CN" altLang="en-US" sz="2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120" y="1825625"/>
            <a:ext cx="10017760" cy="39744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730" y="900430"/>
            <a:ext cx="10923905" cy="493395"/>
          </a:xfrm>
          <a:prstGeom prst="rect">
            <a:avLst/>
          </a:prstGeom>
        </p:spPr>
      </p:pic>
      <p:sp>
        <p:nvSpPr>
          <p:cNvPr id="10" name="椭圆 9"/>
          <p:cNvSpPr/>
          <p:nvPr/>
        </p:nvSpPr>
        <p:spPr>
          <a:xfrm>
            <a:off x="10011410" y="900430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2" name="椭圆 11"/>
          <p:cNvSpPr/>
          <p:nvPr/>
        </p:nvSpPr>
        <p:spPr>
          <a:xfrm>
            <a:off x="10793730" y="2134870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15" name="椭圆 14"/>
          <p:cNvSpPr/>
          <p:nvPr/>
        </p:nvSpPr>
        <p:spPr>
          <a:xfrm>
            <a:off x="927735" y="3118485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16" name="椭圆 15"/>
          <p:cNvSpPr/>
          <p:nvPr/>
        </p:nvSpPr>
        <p:spPr>
          <a:xfrm>
            <a:off x="10061575" y="5589905"/>
            <a:ext cx="310515" cy="310515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1550035" y="3257550"/>
            <a:ext cx="1732280" cy="17145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多样本突变检测与建树</a:t>
            </a:r>
            <a:endParaRPr lang="zh-CN" altLang="en-US" sz="1200"/>
          </a:p>
        </p:txBody>
      </p:sp>
      <p:sp>
        <p:nvSpPr>
          <p:cNvPr id="18" name="矩形 17"/>
          <p:cNvSpPr/>
          <p:nvPr/>
        </p:nvSpPr>
        <p:spPr>
          <a:xfrm>
            <a:off x="1794510" y="5589905"/>
            <a:ext cx="1786890" cy="14541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多样本突变检测与建树</a:t>
            </a:r>
            <a:endParaRPr lang="zh-CN" altLang="en-US" sz="1200"/>
          </a:p>
        </p:txBody>
      </p:sp>
      <p:sp>
        <p:nvSpPr>
          <p:cNvPr id="20" name="文本框 19"/>
          <p:cNvSpPr txBox="1"/>
          <p:nvPr/>
        </p:nvSpPr>
        <p:spPr>
          <a:xfrm>
            <a:off x="215265" y="125730"/>
            <a:ext cx="3066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多样本突变检测与建树</a:t>
            </a:r>
            <a:r>
              <a:rPr lang="zh-CN" altLang="en-US">
                <a:sym typeface="+mn-ea"/>
              </a:rPr>
              <a:t>流程</a:t>
            </a:r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1172210" y="1211580"/>
            <a:ext cx="1713230" cy="18224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多样本突变检测与建树</a:t>
            </a:r>
            <a:endParaRPr lang="zh-CN" altLang="en-US" sz="1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组合 6"/>
          <p:cNvGrpSpPr/>
          <p:nvPr/>
        </p:nvGrpSpPr>
        <p:grpSpPr>
          <a:xfrm rot="0">
            <a:off x="105410" y="493395"/>
            <a:ext cx="11365230" cy="6280785"/>
            <a:chOff x="-3140" y="-3297"/>
            <a:chExt cx="17898" cy="9891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-3140" y="-3297"/>
              <a:ext cx="17535" cy="9495"/>
            </a:xfrm>
            <a:prstGeom prst="rect">
              <a:avLst/>
            </a:prstGeom>
          </p:spPr>
        </p:pic>
        <p:grpSp>
          <p:nvGrpSpPr>
            <p:cNvPr id="6" name="组合 5"/>
            <p:cNvGrpSpPr/>
            <p:nvPr/>
          </p:nvGrpSpPr>
          <p:grpSpPr>
            <a:xfrm>
              <a:off x="2331" y="4814"/>
              <a:ext cx="12427" cy="1780"/>
              <a:chOff x="2331" y="4814"/>
              <a:chExt cx="12427" cy="1780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2331" y="5409"/>
                <a:ext cx="12427" cy="98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p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10149" y="4814"/>
                <a:ext cx="4455" cy="178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noAutofit/>
              </a:bodyPr>
              <a:p>
                <a:endParaRPr lang="zh-CN" altLang="en-US"/>
              </a:p>
            </p:txBody>
          </p:sp>
        </p:grpSp>
      </p:grpSp>
      <p:sp>
        <p:nvSpPr>
          <p:cNvPr id="10" name="文本框 9"/>
          <p:cNvSpPr txBox="1"/>
          <p:nvPr/>
        </p:nvSpPr>
        <p:spPr>
          <a:xfrm>
            <a:off x="958850" y="4461510"/>
            <a:ext cx="8822690" cy="6254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15265" y="125730"/>
            <a:ext cx="30664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多样本组装及比对</a:t>
            </a:r>
            <a:r>
              <a:rPr lang="zh-CN" altLang="en-US">
                <a:sym typeface="+mn-ea"/>
              </a:rPr>
              <a:t>流程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590675" y="4735830"/>
            <a:ext cx="1263650" cy="2813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样本名</a:t>
            </a:r>
            <a:endParaRPr lang="zh-CN" altLang="en-US" sz="1200"/>
          </a:p>
        </p:txBody>
      </p:sp>
      <p:sp>
        <p:nvSpPr>
          <p:cNvPr id="9" name="矩形 8"/>
          <p:cNvSpPr/>
          <p:nvPr/>
        </p:nvSpPr>
        <p:spPr>
          <a:xfrm>
            <a:off x="2981325" y="4735830"/>
            <a:ext cx="5235575" cy="28194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选择数据</a:t>
            </a:r>
            <a:endParaRPr lang="zh-CN" altLang="en-US" sz="1200"/>
          </a:p>
        </p:txBody>
      </p:sp>
      <p:sp>
        <p:nvSpPr>
          <p:cNvPr id="12" name="矩形 11"/>
          <p:cNvSpPr/>
          <p:nvPr/>
        </p:nvSpPr>
        <p:spPr>
          <a:xfrm>
            <a:off x="9633585" y="4761230"/>
            <a:ext cx="1226185" cy="28130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ym typeface="+mn-ea"/>
              </a:rPr>
              <a:t>删除</a:t>
            </a:r>
            <a:endParaRPr lang="zh-CN" altLang="en-US" sz="1200"/>
          </a:p>
        </p:txBody>
      </p:sp>
      <p:sp>
        <p:nvSpPr>
          <p:cNvPr id="13" name="文本框 12"/>
          <p:cNvSpPr txBox="1"/>
          <p:nvPr/>
        </p:nvSpPr>
        <p:spPr>
          <a:xfrm>
            <a:off x="958215" y="3503295"/>
            <a:ext cx="9901555" cy="52895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949950" y="2955925"/>
            <a:ext cx="5036820" cy="10756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p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249670" y="2955925"/>
            <a:ext cx="44380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株系名称</a:t>
            </a:r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 flipV="1">
            <a:off x="6214110" y="3314700"/>
            <a:ext cx="4478020" cy="95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" y="1433195"/>
            <a:ext cx="11649075" cy="39909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77340" y="1884680"/>
            <a:ext cx="121983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突变统计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610610" y="1884680"/>
            <a:ext cx="166624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建树信息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452745" y="1884680"/>
            <a:ext cx="471297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6245" y="286385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多样本组装及比对流程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突变统计</a:t>
            </a:r>
            <a:endParaRPr lang="zh-CN" altLang="en-US"/>
          </a:p>
          <a:p>
            <a:endParaRPr lang="en-US" altLang="zh-CN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4990" y="2778125"/>
            <a:ext cx="11238865" cy="256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9" name="表格 8"/>
          <p:cNvGraphicFramePr/>
          <p:nvPr>
            <p:custDataLst>
              <p:tags r:id="rId2"/>
            </p:custDataLst>
          </p:nvPr>
        </p:nvGraphicFramePr>
        <p:xfrm>
          <a:off x="554355" y="3026410"/>
          <a:ext cx="10582910" cy="2332355"/>
        </p:xfrm>
        <a:graphic>
          <a:graphicData uri="http://schemas.openxmlformats.org/drawingml/2006/table">
            <a:tbl>
              <a:tblPr/>
              <a:tblGrid>
                <a:gridCol w="2443480"/>
                <a:gridCol w="4066540"/>
                <a:gridCol w="4072890"/>
              </a:tblGrid>
              <a:tr h="444500">
                <a:tc>
                  <a:txBody>
                    <a:bodyPr/>
                    <a:p>
                      <a:pPr algn="ctr" fontAlgn="ctr"/>
                      <a:r>
                        <a:rPr lang="zh-CN" altLang="en-US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样本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名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SNP</a:t>
                      </a: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数量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详情表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2580">
                <a:tc>
                  <a:txBody>
                    <a:bodyPr/>
                    <a:p>
                      <a:pPr algn="ctr" fontAlgn="ctr"/>
                      <a:r>
                        <a:rPr lang="en-US" altLang="zh-CN" sz="11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sym typeface="+mn-ea"/>
                        </a:rPr>
                        <a:t>5_S12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295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下载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0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7_S14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下载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305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8_S15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89</a:t>
                      </a:r>
                      <a:endParaRPr lang="en-US" altLang="zh-CN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100" b="0" i="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下载</a:t>
                      </a:r>
                      <a:endParaRPr lang="zh-CN" altLang="en-US" sz="1100" b="0" i="0">
                        <a:solidFill>
                          <a:srgbClr val="000000"/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9842" marR="9842" marT="9842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554990" y="4831080"/>
            <a:ext cx="224282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>
                <a:sym typeface="+mn-ea"/>
              </a:rPr>
              <a:t>突变总</a:t>
            </a:r>
            <a:r>
              <a:rPr lang="zh-CN" altLang="en-US">
                <a:sym typeface="+mn-ea"/>
              </a:rPr>
              <a:t>览表下载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145" y="1433195"/>
            <a:ext cx="11649075" cy="399097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577340" y="1884680"/>
            <a:ext cx="121983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突变统计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628390" y="1884680"/>
            <a:ext cx="1666240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建树信息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443855" y="1884680"/>
            <a:ext cx="478218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436245" y="2863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ym typeface="+mn-ea"/>
              </a:rPr>
              <a:t>多样本组装及比对流程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建树信息</a:t>
            </a:r>
            <a:endParaRPr lang="en-US" altLang="zh-CN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54990" y="2778125"/>
            <a:ext cx="11238865" cy="2561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90" y="2778125"/>
            <a:ext cx="3834765" cy="295148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4729480" y="2838450"/>
            <a:ext cx="1795145" cy="31686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进化树信息下载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89*92"/>
  <p:tag name="TABLE_ENDDRAG_RECT" val="101*306*789*92"/>
</p:tagLst>
</file>

<file path=ppt/tags/tag2.xml><?xml version="1.0" encoding="utf-8"?>
<p:tagLst xmlns:p="http://schemas.openxmlformats.org/presentationml/2006/main">
  <p:tag name="TABLE_ENDDRAG_ORIGIN_RECT" val="789*59"/>
  <p:tag name="TABLE_ENDDRAG_RECT" val="66*224*789*59"/>
</p:tagLst>
</file>

<file path=ppt/tags/tag3.xml><?xml version="1.0" encoding="utf-8"?>
<p:tagLst xmlns:p="http://schemas.openxmlformats.org/presentationml/2006/main">
  <p:tag name="TABLE_ENDDRAG_ORIGIN_RECT" val="789*59"/>
  <p:tag name="TABLE_ENDDRAG_RECT" val="66*224*789*59"/>
</p:tagLst>
</file>

<file path=ppt/tags/tag4.xml><?xml version="1.0" encoding="utf-8"?>
<p:tagLst xmlns:p="http://schemas.openxmlformats.org/presentationml/2006/main">
  <p:tag name="TABLE_ENDDRAG_ORIGIN_RECT" val="875*72"/>
  <p:tag name="TABLE_ENDDRAG_RECT" val="43*224*875*72"/>
</p:tagLst>
</file>

<file path=ppt/tags/tag5.xml><?xml version="1.0" encoding="utf-8"?>
<p:tagLst xmlns:p="http://schemas.openxmlformats.org/presentationml/2006/main">
  <p:tag name="TABLE_ENDDRAG_ORIGIN_RECT" val="833*59"/>
  <p:tag name="TABLE_ENDDRAG_RECT" val="43*238*833*59"/>
</p:tagLst>
</file>

<file path=ppt/tags/tag6.xml><?xml version="1.0" encoding="utf-8"?>
<p:tagLst xmlns:p="http://schemas.openxmlformats.org/presentationml/2006/main">
  <p:tag name="TABLE_ENDDRAG_ORIGIN_RECT" val="833*59"/>
  <p:tag name="TABLE_ENDDRAG_RECT" val="43*238*833*59"/>
</p:tagLst>
</file>

<file path=ppt/tags/tag7.xml><?xml version="1.0" encoding="utf-8"?>
<p:tagLst xmlns:p="http://schemas.openxmlformats.org/presentationml/2006/main">
  <p:tag name="TABLE_ENDDRAG_ORIGIN_RECT" val="833*59"/>
  <p:tag name="TABLE_ENDDRAG_RECT" val="43*238*833*59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1602</Words>
  <Application>WPS 演示</Application>
  <PresentationFormat>宽屏</PresentationFormat>
  <Paragraphs>459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ysj</dc:creator>
  <cp:lastModifiedBy>ysj</cp:lastModifiedBy>
  <cp:revision>32</cp:revision>
  <dcterms:created xsi:type="dcterms:W3CDTF">2023-08-09T12:44:00Z</dcterms:created>
  <dcterms:modified xsi:type="dcterms:W3CDTF">2025-07-10T09:31:24Z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2052-12.1.0.21915</vt:lpwstr>
  </property>
</Properties>
</file>