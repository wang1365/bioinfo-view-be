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76" r:id="rId14"/>
    <p:sldId id="269" r:id="rId15"/>
    <p:sldId id="271" r:id="rId16"/>
    <p:sldId id="270" r:id="rId17"/>
    <p:sldId id="272" r:id="rId18"/>
    <p:sldId id="273" r:id="rId19"/>
    <p:sldId id="274" r:id="rId20"/>
    <p:sldId id="280" r:id="rId21"/>
    <p:sldId id="257" r:id="rId22"/>
    <p:sldId id="275" r:id="rId23"/>
    <p:sldId id="277" r:id="rId24"/>
    <p:sldId id="278" r:id="rId25"/>
    <p:sldId id="279" r:id="rId26"/>
    <p:sldId id="281" r:id="rId27"/>
    <p:sldId id="283" r:id="rId28"/>
    <p:sldId id="284" r:id="rId29"/>
    <p:sldId id="289" r:id="rId30"/>
    <p:sldId id="285" r:id="rId31"/>
    <p:sldId id="286" r:id="rId32"/>
    <p:sldId id="287" r:id="rId33"/>
    <p:sldId id="288" r:id="rId34"/>
    <p:sldId id="2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1" autoAdjust="0"/>
    <p:restoredTop sz="85847" autoAdjust="0"/>
  </p:normalViewPr>
  <p:slideViewPr>
    <p:cSldViewPr snapToGrid="0">
      <p:cViewPr varScale="1">
        <p:scale>
          <a:sx n="97" d="100"/>
          <a:sy n="97" d="100"/>
        </p:scale>
        <p:origin x="8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94EA2-6529-4749-833D-406D0FF25391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C882B-EBFB-46D6-8312-F62AB6E5D0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52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905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</a:t>
            </a:r>
            <a:r>
              <a:rPr lang="zh-CN" altLang="en-US" dirty="0"/>
              <a:t>列我不确定是和</a:t>
            </a:r>
            <a:r>
              <a:rPr lang="en-US" altLang="zh-CN" dirty="0"/>
              <a:t>OMIM</a:t>
            </a:r>
            <a:r>
              <a:rPr lang="zh-CN" altLang="en-US" dirty="0"/>
              <a:t>里疾病关联，还是</a:t>
            </a:r>
            <a:r>
              <a:rPr lang="en-US" altLang="zh-CN" dirty="0"/>
              <a:t>HPO</a:t>
            </a:r>
            <a:r>
              <a:rPr lang="zh-CN" altLang="en-US" dirty="0"/>
              <a:t>关联的，目前我们</a:t>
            </a:r>
            <a:r>
              <a:rPr lang="en-US" altLang="zh-CN" dirty="0" err="1"/>
              <a:t>miniwes</a:t>
            </a:r>
            <a:r>
              <a:rPr lang="zh-CN" altLang="en-US" dirty="0"/>
              <a:t>是按照输入</a:t>
            </a:r>
            <a:r>
              <a:rPr lang="en-US" altLang="zh-CN" dirty="0"/>
              <a:t>HPO</a:t>
            </a:r>
            <a:r>
              <a:rPr lang="zh-CN" altLang="en-US" dirty="0"/>
              <a:t>关联分析的</a:t>
            </a:r>
            <a:endParaRPr lang="en-US" altLang="zh-CN" dirty="0"/>
          </a:p>
          <a:p>
            <a:r>
              <a:rPr lang="zh-CN" altLang="en-US" dirty="0"/>
              <a:t>如果是和输入的</a:t>
            </a:r>
            <a:r>
              <a:rPr lang="en-US" altLang="zh-CN" dirty="0"/>
              <a:t>HPO</a:t>
            </a:r>
            <a:r>
              <a:rPr lang="zh-CN" altLang="en-US" dirty="0"/>
              <a:t>关联，那可以这样定义：</a:t>
            </a:r>
            <a:endParaRPr lang="en-US" altLang="zh-CN" dirty="0"/>
          </a:p>
          <a:p>
            <a:r>
              <a:rPr lang="zh-CN" altLang="en-US" dirty="0"/>
              <a:t>和输入</a:t>
            </a:r>
            <a:r>
              <a:rPr lang="en-US" altLang="zh-CN" dirty="0"/>
              <a:t>HPO</a:t>
            </a:r>
            <a:r>
              <a:rPr lang="zh-CN" altLang="en-US" dirty="0"/>
              <a:t>关联基因的突变致病</a:t>
            </a:r>
            <a:r>
              <a:rPr lang="en-US" altLang="zh-CN" dirty="0"/>
              <a:t>/</a:t>
            </a:r>
            <a:r>
              <a:rPr lang="zh-CN" altLang="en-US" dirty="0"/>
              <a:t>可能致病的分为</a:t>
            </a:r>
            <a:r>
              <a:rPr lang="en-US" altLang="zh-CN" dirty="0"/>
              <a:t>IA</a:t>
            </a:r>
            <a:r>
              <a:rPr lang="zh-CN" altLang="en-US" dirty="0"/>
              <a:t>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IIA</a:t>
            </a:r>
            <a:r>
              <a:rPr lang="zh-CN" altLang="en-US" dirty="0"/>
              <a:t>，良性分为</a:t>
            </a:r>
            <a:r>
              <a:rPr lang="en-US" altLang="zh-CN" dirty="0"/>
              <a:t>IIA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和输入</a:t>
            </a:r>
            <a:r>
              <a:rPr lang="en-US" altLang="zh-CN" dirty="0"/>
              <a:t>HPO</a:t>
            </a:r>
            <a:r>
              <a:rPr lang="zh-CN" altLang="en-US" dirty="0"/>
              <a:t>不关联的基因，但是和其他疾病疾病关联，这个基因的突变，致病</a:t>
            </a:r>
            <a:r>
              <a:rPr lang="en-US" altLang="zh-CN" dirty="0"/>
              <a:t>/</a:t>
            </a:r>
            <a:r>
              <a:rPr lang="zh-CN" altLang="en-US" dirty="0"/>
              <a:t>可能致病的分为</a:t>
            </a:r>
            <a:r>
              <a:rPr lang="en-US" altLang="zh-CN" dirty="0"/>
              <a:t>IB</a:t>
            </a:r>
            <a:r>
              <a:rPr lang="zh-CN" altLang="en-US" dirty="0"/>
              <a:t>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IIB</a:t>
            </a:r>
            <a:r>
              <a:rPr lang="zh-CN" altLang="en-US" dirty="0"/>
              <a:t>，良性分为</a:t>
            </a:r>
            <a:r>
              <a:rPr lang="en-US" altLang="zh-CN" dirty="0"/>
              <a:t>IIB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不和疾病关联的基因的突变，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IV</a:t>
            </a:r>
            <a:r>
              <a:rPr lang="zh-CN" altLang="en-US" dirty="0"/>
              <a:t>，良性分为</a:t>
            </a:r>
            <a:r>
              <a:rPr lang="en-US" altLang="zh-CN" dirty="0"/>
              <a:t>V</a:t>
            </a:r>
            <a:r>
              <a:rPr lang="zh-CN" altLang="en-US" dirty="0"/>
              <a:t>（这种基因应该不会有致病的突变吧？）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我比较担心的是这列会不会是动态的，比如客户在左边过滤列选择了某些</a:t>
            </a:r>
            <a:r>
              <a:rPr lang="en-US" altLang="zh-CN" dirty="0"/>
              <a:t>OMIM</a:t>
            </a:r>
            <a:r>
              <a:rPr lang="zh-CN" altLang="en-US" dirty="0"/>
              <a:t>疾病，然后将关联了这些疾病的基因归为</a:t>
            </a:r>
            <a:r>
              <a:rPr lang="en-US" altLang="zh-CN" dirty="0"/>
              <a:t>A</a:t>
            </a:r>
            <a:r>
              <a:rPr lang="zh-CN" altLang="en-US" dirty="0"/>
              <a:t>，这些基因的突变根据致病性划分为</a:t>
            </a:r>
            <a:r>
              <a:rPr lang="en-US" altLang="zh-CN" dirty="0"/>
              <a:t>IA</a:t>
            </a:r>
            <a:r>
              <a:rPr lang="zh-CN" altLang="en-US" dirty="0"/>
              <a:t>、</a:t>
            </a:r>
            <a:r>
              <a:rPr lang="en-US" altLang="zh-CN" dirty="0"/>
              <a:t>IIA</a:t>
            </a:r>
            <a:r>
              <a:rPr lang="zh-CN" altLang="en-US" dirty="0"/>
              <a:t>、</a:t>
            </a:r>
            <a:r>
              <a:rPr lang="en-US" altLang="zh-CN" dirty="0"/>
              <a:t>IIIA</a:t>
            </a:r>
            <a:r>
              <a:rPr lang="zh-CN" altLang="en-US" dirty="0"/>
              <a:t>，有</a:t>
            </a:r>
            <a:r>
              <a:rPr lang="en-US" altLang="zh-CN" dirty="0"/>
              <a:t>OMIM</a:t>
            </a:r>
            <a:r>
              <a:rPr lang="zh-CN" altLang="en-US" dirty="0"/>
              <a:t>疾病相关但是未被选择的基因归为</a:t>
            </a:r>
            <a:r>
              <a:rPr lang="en-US" altLang="zh-CN" dirty="0"/>
              <a:t>B</a:t>
            </a:r>
            <a:r>
              <a:rPr lang="zh-CN" altLang="en-US" dirty="0"/>
              <a:t>，这些基因的突变根据致病性划分为</a:t>
            </a:r>
            <a:r>
              <a:rPr lang="en-US" altLang="zh-CN" dirty="0"/>
              <a:t>IA</a:t>
            </a:r>
            <a:r>
              <a:rPr lang="zh-CN" altLang="en-US" dirty="0"/>
              <a:t>、</a:t>
            </a:r>
            <a:r>
              <a:rPr lang="en-US" altLang="zh-CN" dirty="0"/>
              <a:t>IIA</a:t>
            </a:r>
            <a:r>
              <a:rPr lang="zh-CN" altLang="en-US" dirty="0"/>
              <a:t>、</a:t>
            </a:r>
            <a:r>
              <a:rPr lang="en-US" altLang="zh-CN" dirty="0"/>
              <a:t>IIIA</a:t>
            </a:r>
            <a:r>
              <a:rPr lang="zh-CN" altLang="en-US" dirty="0"/>
              <a:t>，没有</a:t>
            </a:r>
            <a:r>
              <a:rPr lang="en-US" altLang="zh-CN" dirty="0"/>
              <a:t>OMIM</a:t>
            </a:r>
            <a:r>
              <a:rPr lang="zh-CN" altLang="en-US" dirty="0"/>
              <a:t>疾病关联的基因的突变根据致病性划分为</a:t>
            </a:r>
            <a:r>
              <a:rPr lang="en-US" altLang="zh-CN" dirty="0"/>
              <a:t>IV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，如果是这样那这列需要外包展示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我猜</a:t>
            </a:r>
            <a:r>
              <a:rPr lang="en-US" altLang="zh-CN" dirty="0" err="1"/>
              <a:t>Depth_Quality</a:t>
            </a:r>
            <a:r>
              <a:rPr lang="zh-CN" altLang="en-US" dirty="0"/>
              <a:t>应该是根据深度给的，大于阈值是</a:t>
            </a:r>
            <a:r>
              <a:rPr lang="en-US" altLang="zh-CN" dirty="0"/>
              <a:t>HIGH</a:t>
            </a:r>
            <a:r>
              <a:rPr lang="zh-CN" altLang="en-US" dirty="0"/>
              <a:t>，低于阈值是</a:t>
            </a:r>
            <a:r>
              <a:rPr lang="en-US" altLang="zh-CN" dirty="0"/>
              <a:t>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Genotype_Quality</a:t>
            </a:r>
            <a:r>
              <a:rPr lang="zh-CN" altLang="en-US" dirty="0"/>
              <a:t>、</a:t>
            </a:r>
            <a:r>
              <a:rPr lang="en-US" altLang="zh-CN" dirty="0" err="1"/>
              <a:t>Variant_Quality</a:t>
            </a:r>
            <a:r>
              <a:rPr lang="zh-CN" altLang="en-US" dirty="0"/>
              <a:t>可以从</a:t>
            </a:r>
            <a:r>
              <a:rPr lang="en-US" altLang="zh-CN" dirty="0"/>
              <a:t>vcf</a:t>
            </a:r>
            <a:r>
              <a:rPr lang="zh-CN" altLang="en-US" dirty="0"/>
              <a:t>提取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Genotype</a:t>
            </a:r>
            <a:r>
              <a:rPr lang="zh-CN" altLang="en-US" dirty="0"/>
              <a:t>放纯合</a:t>
            </a:r>
            <a:r>
              <a:rPr lang="en-US" altLang="zh-CN" dirty="0"/>
              <a:t>/</a:t>
            </a:r>
            <a:r>
              <a:rPr lang="zh-CN" altLang="en-US" dirty="0"/>
              <a:t>杂合信息 </a:t>
            </a:r>
            <a:r>
              <a:rPr lang="en-US" altLang="zh-CN" dirty="0"/>
              <a:t>Het/Hom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270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PKD1L1</a:t>
            </a:r>
            <a:r>
              <a:rPr lang="zh-CN" altLang="en-US" dirty="0"/>
              <a:t>在</a:t>
            </a:r>
            <a:r>
              <a:rPr lang="en-US" altLang="zh-CN" dirty="0"/>
              <a:t>OMIM</a:t>
            </a:r>
            <a:r>
              <a:rPr lang="zh-CN" altLang="en-US" dirty="0"/>
              <a:t>里只有一个疾病，但是不清楚为什么这里这个基因，上面放了</a:t>
            </a:r>
            <a:r>
              <a:rPr lang="en-US" altLang="zh-CN" dirty="0"/>
              <a:t>OMIM</a:t>
            </a:r>
            <a:r>
              <a:rPr lang="zh-CN" altLang="en-US" dirty="0"/>
              <a:t>的那个疾病后，下面有个横线，然后还跟了</a:t>
            </a:r>
            <a:r>
              <a:rPr lang="en-US" altLang="zh-CN" dirty="0"/>
              <a:t>4</a:t>
            </a:r>
            <a:r>
              <a:rPr lang="zh-CN" altLang="en-US" dirty="0"/>
              <a:t>个疾病，我都没找到这是啥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137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00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916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 err="1"/>
              <a:t>Clinvar_ReviewStatus</a:t>
            </a:r>
            <a:r>
              <a:rPr lang="zh-CN" altLang="en-US" sz="4000" dirty="0"/>
              <a:t>可以</a:t>
            </a:r>
            <a:r>
              <a:rPr lang="zh-CN" altLang="en-US" sz="2800" dirty="0"/>
              <a:t>根据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variant_summary.txt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文件里信息判断，</a:t>
            </a:r>
            <a:endParaRPr lang="en-US" altLang="zh-CN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ea typeface="等线" panose="02010600030101010101" pitchFamily="2" charset="-122"/>
            </a:endParaRPr>
          </a:p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Number of gold stars</a:t>
            </a:r>
            <a:r>
              <a:rPr lang="en-US" altLang="zh-CN" dirty="0"/>
              <a:t> 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Review status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four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practice guideline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three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reviewed by expert panel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two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multiple submitters, no conflicts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conflicting classifications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single submitter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assertion criteria provided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classification provided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classification for the individual variant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537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415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FF0000"/>
                </a:solidFill>
                <a:effectLst/>
                <a:latin typeface="PingFang SC"/>
              </a:rPr>
              <a:t>Software_Prediction_result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PingFang SC"/>
              </a:rPr>
              <a:t>放</a:t>
            </a:r>
            <a:r>
              <a:rPr lang="en-US" altLang="zh-CN" dirty="0"/>
              <a:t>4</a:t>
            </a:r>
            <a:r>
              <a:rPr lang="zh-CN" altLang="en-US" dirty="0"/>
              <a:t>个软件的均值？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15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358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10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1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01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Whole Gene CNV</a:t>
            </a:r>
            <a:r>
              <a:rPr lang="zh-CN" altLang="en-US" dirty="0"/>
              <a:t>、</a:t>
            </a:r>
            <a:r>
              <a:rPr lang="en-US" altLang="zh-CN" dirty="0"/>
              <a:t>Exon CNV</a:t>
            </a:r>
            <a:r>
              <a:rPr lang="zh-CN" altLang="en-US" dirty="0"/>
              <a:t>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56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532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6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82D9F-E63C-61A7-88F0-ACA29856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E1E2E8-3C7B-A507-F956-B4316C511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7C5E82-1180-132E-1C45-5B628243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1FD12E-3810-9E37-6E97-8B3D45B8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30C08-1DD2-A88D-A1A6-7BB6E8E1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40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2883B-C68B-980C-ED63-1D674B51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A4017-06D1-0120-35A2-F4118226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24679-B871-62B8-9F28-24DF64CD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227EA-4E2A-DDDE-828D-0779D60C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1F219-1E18-4BDE-A0DC-6DACEA7C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3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3B2CA-CCE6-3C42-F77D-D955540E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B770A-F442-4244-8853-642F6ED5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D9F75-6854-43D6-E917-33A784B4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F4654-2AB0-30FB-A76C-1B1D90A3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3A63B-94BB-C3B0-1985-5B61B557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52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8B296-AA05-E7A1-B579-42EF004B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9C644A-E286-47C6-1EEF-598ECE36C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49F6EB-BE48-1411-C9EF-30B3987DB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78E32-8DB8-E8DC-CBE7-5011EBA0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A55E9-F69C-7B53-CBC9-9528131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8EBDD-678E-E9E9-11C3-00329ECC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1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30267-1CB6-7D4B-AD66-2EB8D1AB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AA9A5D-3FCF-E0F0-D953-0AB737669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F396A6-F578-5171-7850-A5E14B9D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291F20-EA14-BE88-CCDC-B9FB2D0E5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81A70A-00EE-E2E3-CF2E-232B62BFA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892466-2E97-8017-3878-B4D87179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CE034D-C1AF-057C-8400-F00986C8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E60C07-0136-A8C3-7396-A5845CDB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73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BF85-23F9-F239-2573-D8623710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5C3627-5EF3-2EA4-F091-72D29985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883481-4211-74B6-208E-A610881C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A4FD4-D8EB-3A26-E911-7F7A4716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0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2D78B4-EE3B-D09D-8F08-BD128A4E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BADC3A-CBDE-0CB4-51D1-8A333D47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BF348-EB06-95B5-CEE1-8DDCD723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A8930-B5A0-A3B8-281D-0CE5A3C6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2C3A0-70E4-2B13-8F4A-CB811B66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1DF8C4-9628-15D2-53C2-F52F6F189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CC99C3-23F7-64EF-0D58-C4C01267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22B8D-5577-238B-3C6D-7E61CA67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7EB67B-2CA5-6CAE-139D-F42E0F25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39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951D8-63D2-E236-0117-8951C76C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A8A393-514E-B412-2CA8-541043C1D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92143E-DA9C-7000-D7DF-5F406E8A9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A6DF0D-ECA7-D330-E802-42254CBE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2AB62B-43E6-4F11-B28C-D1D73A34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2235B9-8EF3-C6E3-6D7A-EF36AEE6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0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E7CB9-8BE2-869B-27F6-5BA2E804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DA408-0984-5D88-8C06-59BFB054F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994E6-A316-FD12-4957-3AF5FAF0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3942C9-C893-211A-BC26-8A45237B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EE96CD-D9E3-5DA1-671F-3F54CC72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20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CB7B30-AD8E-C9A2-07A6-36375B3C5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6E3277-C8B9-192C-BC3E-92C23CE0A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4D501B-9CA0-DA18-1195-C01C07A4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68CC4-E57F-2F10-A8B7-CB36885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58C4F-57C9-9995-BD54-D94EB312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D87244-74C8-4975-14B0-18537A91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F27C46-98F5-C6B4-6C65-87C607F57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351B0-1FE9-4519-8E2C-E297B177A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752B4-FC88-487B-B55C-1DF09EB4D653}" type="datetimeFigureOut">
              <a:rPr lang="zh-CN" altLang="en-US" smtClean="0"/>
              <a:t>16/Jun/2025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90DDF-4053-8351-EE4E-63C051D37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218E5-B41E-965F-7D58-7B03D4460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92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5CA7F32-483E-1883-10ED-A12DC13EEAAE}"/>
              </a:ext>
            </a:extLst>
          </p:cNvPr>
          <p:cNvSpPr txBox="1"/>
          <p:nvPr/>
        </p:nvSpPr>
        <p:spPr>
          <a:xfrm>
            <a:off x="309093" y="257578"/>
            <a:ext cx="5384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分别在突变分析和拷贝数变异分析下新增</a:t>
            </a:r>
            <a:r>
              <a:rPr lang="en-US" altLang="zh-CN" dirty="0"/>
              <a:t>2</a:t>
            </a:r>
            <a:r>
              <a:rPr lang="zh-CN" altLang="en-US" dirty="0"/>
              <a:t>个标签页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0A401B-C8A5-39C8-8EBA-B5CB9A4B3F33}"/>
              </a:ext>
            </a:extLst>
          </p:cNvPr>
          <p:cNvSpPr txBox="1"/>
          <p:nvPr/>
        </p:nvSpPr>
        <p:spPr>
          <a:xfrm>
            <a:off x="602087" y="1299470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"突变分析": {</a:t>
            </a:r>
          </a:p>
          <a:p>
            <a:r>
              <a:rPr lang="zh-CN" altLang="en-US" dirty="0"/>
              <a:t>   "showMutGermline":true,</a:t>
            </a:r>
          </a:p>
          <a:p>
            <a:r>
              <a:rPr lang="zh-CN" altLang="en-US" dirty="0"/>
              <a:t>   “showMutSomatic”:true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   “show</a:t>
            </a:r>
            <a:r>
              <a:rPr lang="en-US" altLang="zh-CN" dirty="0" err="1"/>
              <a:t>MutWES</a:t>
            </a:r>
            <a:r>
              <a:rPr lang="zh-CN" altLang="en-US" dirty="0"/>
              <a:t>”:true</a:t>
            </a:r>
          </a:p>
          <a:p>
            <a:r>
              <a:rPr lang="zh-CN" altLang="en-US" dirty="0"/>
              <a:t> },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9991FC-1EB2-FB51-B165-4907F92EE59C}"/>
              </a:ext>
            </a:extLst>
          </p:cNvPr>
          <p:cNvSpPr txBox="1"/>
          <p:nvPr/>
        </p:nvSpPr>
        <p:spPr>
          <a:xfrm>
            <a:off x="602087" y="3295695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"拷贝数变异分析": {</a:t>
            </a:r>
          </a:p>
          <a:p>
            <a:r>
              <a:rPr lang="zh-CN" altLang="en-US" dirty="0"/>
              <a:t>   "showCNVcircos":true,</a:t>
            </a:r>
          </a:p>
          <a:p>
            <a:r>
              <a:rPr lang="zh-CN" altLang="en-US" dirty="0"/>
              <a:t>   "showCNVtable":true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   "show</a:t>
            </a:r>
            <a:r>
              <a:rPr lang="en-US" altLang="zh-CN" dirty="0"/>
              <a:t>CNVWES</a:t>
            </a:r>
            <a:r>
              <a:rPr lang="zh-CN" altLang="en-US" dirty="0"/>
              <a:t>":true</a:t>
            </a:r>
          </a:p>
          <a:p>
            <a:r>
              <a:rPr lang="zh-CN" altLang="en-US" dirty="0"/>
              <a:t> },</a:t>
            </a:r>
          </a:p>
        </p:txBody>
      </p:sp>
    </p:spTree>
    <p:extLst>
      <p:ext uri="{BB962C8B-B14F-4D97-AF65-F5344CB8AC3E}">
        <p14:creationId xmlns:p14="http://schemas.microsoft.com/office/powerpoint/2010/main" val="215511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3C3359-B53F-3953-1C07-2590EC5E0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5" y="1659113"/>
            <a:ext cx="11686674" cy="488466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7203F58-C7C8-7F2D-067E-D167B217AD7D}"/>
              </a:ext>
            </a:extLst>
          </p:cNvPr>
          <p:cNvSpPr txBox="1"/>
          <p:nvPr/>
        </p:nvSpPr>
        <p:spPr>
          <a:xfrm>
            <a:off x="254357" y="118615"/>
            <a:ext cx="10847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show</a:t>
            </a:r>
            <a:r>
              <a:rPr lang="en-US" altLang="zh-CN" dirty="0" err="1"/>
              <a:t>MutWES</a:t>
            </a:r>
            <a:r>
              <a:rPr lang="zh-CN" altLang="en-US" dirty="0"/>
              <a:t>标签页的构建参考下页截图，没办法客户给的图片就这么糊</a:t>
            </a:r>
            <a:endParaRPr lang="en-US" altLang="zh-CN" dirty="0"/>
          </a:p>
          <a:p>
            <a:r>
              <a:rPr lang="zh-CN" altLang="en-US" dirty="0"/>
              <a:t>读取文件 </a:t>
            </a:r>
            <a:r>
              <a:rPr lang="en-US" altLang="zh-CN" dirty="0"/>
              <a:t>result/</a:t>
            </a:r>
            <a:r>
              <a:rPr lang="en-US" altLang="zh-CN" dirty="0" err="1"/>
              <a:t>Mut_WES</a:t>
            </a:r>
            <a:r>
              <a:rPr lang="en-US" altLang="zh-CN" dirty="0"/>
              <a:t>/</a:t>
            </a:r>
            <a:r>
              <a:rPr lang="zh-CN" altLang="en-US" dirty="0"/>
              <a:t>数据</a:t>
            </a:r>
            <a:r>
              <a:rPr lang="en-US" altLang="zh-CN" dirty="0"/>
              <a:t>ID.Mut_WES.txt</a:t>
            </a:r>
            <a:r>
              <a:rPr lang="zh-CN" altLang="en-US" dirty="0"/>
              <a:t>，该文件和数据</a:t>
            </a:r>
            <a:r>
              <a:rPr lang="en-US" altLang="zh-CN" dirty="0"/>
              <a:t>ID. combined.standard-new.csv</a:t>
            </a:r>
            <a:r>
              <a:rPr lang="zh-CN" altLang="en-US" dirty="0"/>
              <a:t>格式差不多，会少几列然后多出几列，表头唯一，后面按照表头定位，不按列数了，防止列数变动</a:t>
            </a:r>
            <a:endParaRPr lang="en-US" altLang="zh-CN" dirty="0"/>
          </a:p>
          <a:p>
            <a:r>
              <a:rPr lang="zh-CN" altLang="en-US" dirty="0"/>
              <a:t>先说右边展示列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605CB5-A77C-6D5B-0A84-1E0B31D22E28}"/>
              </a:ext>
            </a:extLst>
          </p:cNvPr>
          <p:cNvSpPr/>
          <p:nvPr/>
        </p:nvSpPr>
        <p:spPr>
          <a:xfrm>
            <a:off x="2731170" y="1586921"/>
            <a:ext cx="9352547" cy="5075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64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4D917F-B251-C3BC-5347-7AF30B462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6" t="2864" r="43317" b="59048"/>
          <a:stretch/>
        </p:blipFill>
        <p:spPr>
          <a:xfrm>
            <a:off x="484365" y="1990323"/>
            <a:ext cx="11223269" cy="44828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0B5432-C7A7-FFBC-39A8-3110047AB397}"/>
              </a:ext>
            </a:extLst>
          </p:cNvPr>
          <p:cNvSpPr/>
          <p:nvPr/>
        </p:nvSpPr>
        <p:spPr>
          <a:xfrm>
            <a:off x="1941669" y="2345922"/>
            <a:ext cx="4154331" cy="169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0EA244-0A95-3F5A-DCC1-2F996A680163}"/>
              </a:ext>
            </a:extLst>
          </p:cNvPr>
          <p:cNvSpPr txBox="1"/>
          <p:nvPr/>
        </p:nvSpPr>
        <p:spPr>
          <a:xfrm>
            <a:off x="156150" y="215836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第一列</a:t>
            </a:r>
            <a:r>
              <a:rPr lang="en-US" altLang="zh-CN" dirty="0"/>
              <a:t>Gene info</a:t>
            </a:r>
            <a:r>
              <a:rPr lang="zh-CN" altLang="en-US" dirty="0"/>
              <a:t>列</a:t>
            </a:r>
            <a:endParaRPr lang="en-US" altLang="zh-CN" dirty="0"/>
          </a:p>
          <a:p>
            <a:r>
              <a:rPr lang="zh-CN" altLang="en-US" dirty="0"/>
              <a:t>默认展示黑框内容，读取文件中表头</a:t>
            </a:r>
            <a:r>
              <a:rPr lang="en-US" altLang="zh-CN" b="1" dirty="0">
                <a:solidFill>
                  <a:srgbClr val="FF0000"/>
                </a:solidFill>
              </a:rPr>
              <a:t>Class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Gene.refGene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ExonicFunc.refGene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NUChange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b="1" dirty="0">
                <a:solidFill>
                  <a:srgbClr val="FF0000"/>
                </a:solidFill>
              </a:rPr>
              <a:t>Class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Gene.refGene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ExonicFunc.refGene</a:t>
            </a:r>
            <a:r>
              <a:rPr lang="zh-CN" altLang="en-US" dirty="0"/>
              <a:t>、</a:t>
            </a:r>
            <a:r>
              <a:rPr lang="en-US" altLang="zh-CN" dirty="0"/>
              <a:t>Chr</a:t>
            </a:r>
            <a:r>
              <a:rPr lang="zh-CN" altLang="en-US" dirty="0"/>
              <a:t>、</a:t>
            </a:r>
            <a:r>
              <a:rPr lang="en-US" altLang="zh-CN" dirty="0"/>
              <a:t>Start</a:t>
            </a:r>
            <a:r>
              <a:rPr lang="zh-CN" altLang="en-US" dirty="0"/>
              <a:t>、</a:t>
            </a:r>
            <a:r>
              <a:rPr lang="en-US" altLang="zh-CN" dirty="0"/>
              <a:t>Ref</a:t>
            </a:r>
            <a:r>
              <a:rPr lang="zh-CN" altLang="en-US" dirty="0"/>
              <a:t>、</a:t>
            </a:r>
            <a:r>
              <a:rPr lang="en-US" altLang="zh-CN" dirty="0"/>
              <a:t>Alt</a:t>
            </a:r>
            <a:r>
              <a:rPr lang="zh-CN" altLang="en-US" dirty="0"/>
              <a:t>、</a:t>
            </a:r>
            <a:r>
              <a:rPr lang="en-US" altLang="zh-CN" dirty="0" err="1"/>
              <a:t>NUChange</a:t>
            </a:r>
            <a:r>
              <a:rPr lang="zh-CN" altLang="en-US" dirty="0"/>
              <a:t>、</a:t>
            </a:r>
            <a:r>
              <a:rPr lang="en-US" altLang="zh-CN" dirty="0" err="1"/>
              <a:t>AAChange</a:t>
            </a:r>
            <a:r>
              <a:rPr lang="zh-CN" altLang="en-US" dirty="0"/>
              <a:t>、</a:t>
            </a:r>
            <a:r>
              <a:rPr lang="en-US" altLang="zh-CN" dirty="0" err="1"/>
              <a:t>GeneDetail.refGene</a:t>
            </a:r>
            <a:r>
              <a:rPr lang="zh-CN" altLang="en-US" dirty="0"/>
              <a:t>、</a:t>
            </a:r>
            <a:r>
              <a:rPr lang="en-US" altLang="zh-CN" dirty="0"/>
              <a:t>exon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0439B-000E-AFD6-CA7F-94DDF1E77AEF}"/>
              </a:ext>
            </a:extLst>
          </p:cNvPr>
          <p:cNvSpPr/>
          <p:nvPr/>
        </p:nvSpPr>
        <p:spPr>
          <a:xfrm>
            <a:off x="1941668" y="4394198"/>
            <a:ext cx="3430432" cy="7874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7355D8-C9EE-592F-47EE-A12A0846FA51}"/>
              </a:ext>
            </a:extLst>
          </p:cNvPr>
          <p:cNvSpPr/>
          <p:nvPr/>
        </p:nvSpPr>
        <p:spPr>
          <a:xfrm>
            <a:off x="2044700" y="4622800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D67C08-3B77-EFF2-484A-AEEBFE40BA75}"/>
              </a:ext>
            </a:extLst>
          </p:cNvPr>
          <p:cNvSpPr txBox="1"/>
          <p:nvPr/>
        </p:nvSpPr>
        <p:spPr>
          <a:xfrm>
            <a:off x="2044700" y="5534944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Class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3A25C43-191E-53D6-1997-B1655016DA9C}"/>
              </a:ext>
            </a:extLst>
          </p:cNvPr>
          <p:cNvCxnSpPr>
            <a:cxnSpLocks/>
          </p:cNvCxnSpPr>
          <p:nvPr/>
        </p:nvCxnSpPr>
        <p:spPr>
          <a:xfrm>
            <a:off x="2311400" y="5058538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9378DC8-6E3E-C3A8-CF95-8ED5FCEB2FDD}"/>
              </a:ext>
            </a:extLst>
          </p:cNvPr>
          <p:cNvSpPr/>
          <p:nvPr/>
        </p:nvSpPr>
        <p:spPr>
          <a:xfrm>
            <a:off x="3311503" y="4661699"/>
            <a:ext cx="892108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E142B1-448F-1325-2E1A-1702E77FD617}"/>
              </a:ext>
            </a:extLst>
          </p:cNvPr>
          <p:cNvSpPr txBox="1"/>
          <p:nvPr/>
        </p:nvSpPr>
        <p:spPr>
          <a:xfrm>
            <a:off x="2806700" y="5952930"/>
            <a:ext cx="156033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Gene.refGene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1D9D620-2DAD-B911-71BF-B6D912C3BFC5}"/>
              </a:ext>
            </a:extLst>
          </p:cNvPr>
          <p:cNvCxnSpPr>
            <a:cxnSpLocks/>
          </p:cNvCxnSpPr>
          <p:nvPr/>
        </p:nvCxnSpPr>
        <p:spPr>
          <a:xfrm>
            <a:off x="3578203" y="5097437"/>
            <a:ext cx="8663" cy="80683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82F331C-0B1B-B5FD-A6BE-9670D737412B}"/>
              </a:ext>
            </a:extLst>
          </p:cNvPr>
          <p:cNvSpPr/>
          <p:nvPr/>
        </p:nvSpPr>
        <p:spPr>
          <a:xfrm>
            <a:off x="4311605" y="4428718"/>
            <a:ext cx="952499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AB2420-5440-B4D4-4AC7-528D14666407}"/>
              </a:ext>
            </a:extLst>
          </p:cNvPr>
          <p:cNvSpPr txBox="1"/>
          <p:nvPr/>
        </p:nvSpPr>
        <p:spPr>
          <a:xfrm>
            <a:off x="3776864" y="5339833"/>
            <a:ext cx="250829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ExonicFunc.refGene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33E4039-A64D-096F-5A2D-22B1617E3F12}"/>
              </a:ext>
            </a:extLst>
          </p:cNvPr>
          <p:cNvCxnSpPr/>
          <p:nvPr/>
        </p:nvCxnSpPr>
        <p:spPr>
          <a:xfrm>
            <a:off x="4578306" y="4864456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995DF5-C24F-47C3-EF61-7F00F8472D6D}"/>
              </a:ext>
            </a:extLst>
          </p:cNvPr>
          <p:cNvSpPr/>
          <p:nvPr/>
        </p:nvSpPr>
        <p:spPr>
          <a:xfrm>
            <a:off x="4654505" y="4768038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DA3216-3F8A-FD52-BB02-6F423B525100}"/>
              </a:ext>
            </a:extLst>
          </p:cNvPr>
          <p:cNvSpPr txBox="1"/>
          <p:nvPr/>
        </p:nvSpPr>
        <p:spPr>
          <a:xfrm>
            <a:off x="5252833" y="5768264"/>
            <a:ext cx="162997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NUChange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F808D7-AD41-B328-7D8C-3C6CEA857EA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232310" y="5136338"/>
            <a:ext cx="835511" cy="63192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C212525-0721-A5FB-4B36-D0A08EBD99EA}"/>
              </a:ext>
            </a:extLst>
          </p:cNvPr>
          <p:cNvSpPr/>
          <p:nvPr/>
        </p:nvSpPr>
        <p:spPr>
          <a:xfrm>
            <a:off x="2006600" y="2515116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83C648F-9B49-F7B3-63CC-42A3536F9A8C}"/>
              </a:ext>
            </a:extLst>
          </p:cNvPr>
          <p:cNvSpPr txBox="1"/>
          <p:nvPr/>
        </p:nvSpPr>
        <p:spPr>
          <a:xfrm>
            <a:off x="1756803" y="1737884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Class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5D170E6-4B16-DE5C-E05B-20EEBD91A23A}"/>
              </a:ext>
            </a:extLst>
          </p:cNvPr>
          <p:cNvCxnSpPr>
            <a:cxnSpLocks/>
          </p:cNvCxnSpPr>
          <p:nvPr/>
        </p:nvCxnSpPr>
        <p:spPr>
          <a:xfrm flipV="1">
            <a:off x="2221068" y="2117661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FADDF6F-44B3-A5D6-7F8A-24C4461CE22E}"/>
              </a:ext>
            </a:extLst>
          </p:cNvPr>
          <p:cNvSpPr/>
          <p:nvPr/>
        </p:nvSpPr>
        <p:spPr>
          <a:xfrm>
            <a:off x="2602067" y="2415393"/>
            <a:ext cx="839629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594AEC5-F8F5-09F7-84B6-DD6789637FF5}"/>
              </a:ext>
            </a:extLst>
          </p:cNvPr>
          <p:cNvCxnSpPr>
            <a:cxnSpLocks/>
          </p:cNvCxnSpPr>
          <p:nvPr/>
        </p:nvCxnSpPr>
        <p:spPr>
          <a:xfrm flipV="1">
            <a:off x="2816536" y="2017938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E64E7AE-6A61-2636-348F-CA7CB552E405}"/>
              </a:ext>
            </a:extLst>
          </p:cNvPr>
          <p:cNvSpPr txBox="1"/>
          <p:nvPr/>
        </p:nvSpPr>
        <p:spPr>
          <a:xfrm>
            <a:off x="2654300" y="1648606"/>
            <a:ext cx="156033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Gene.refGene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5C2629-7C28-4DBD-7FDE-6FB00C1A4BB6}"/>
              </a:ext>
            </a:extLst>
          </p:cNvPr>
          <p:cNvSpPr/>
          <p:nvPr/>
        </p:nvSpPr>
        <p:spPr>
          <a:xfrm>
            <a:off x="2641263" y="2793109"/>
            <a:ext cx="1135601" cy="26998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EBC7E07-A801-286A-2229-6A326CA78709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3776864" y="2523548"/>
            <a:ext cx="534742" cy="4045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C6B7F739-BAF9-3DFD-B098-14E9246F12B3}"/>
              </a:ext>
            </a:extLst>
          </p:cNvPr>
          <p:cNvSpPr txBox="1"/>
          <p:nvPr/>
        </p:nvSpPr>
        <p:spPr>
          <a:xfrm>
            <a:off x="4352903" y="2329469"/>
            <a:ext cx="250829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ExonicFunc.refGene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A6DAACC-C49F-1096-EA23-0ECC1543FBDE}"/>
              </a:ext>
            </a:extLst>
          </p:cNvPr>
          <p:cNvSpPr/>
          <p:nvPr/>
        </p:nvSpPr>
        <p:spPr>
          <a:xfrm>
            <a:off x="2602067" y="2999097"/>
            <a:ext cx="1709539" cy="28234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E8391B9-B8B6-7055-817A-D9EF5AF179BB}"/>
              </a:ext>
            </a:extLst>
          </p:cNvPr>
          <p:cNvSpPr txBox="1"/>
          <p:nvPr/>
        </p:nvSpPr>
        <p:spPr>
          <a:xfrm>
            <a:off x="5177019" y="2814431"/>
            <a:ext cx="5728873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Chr:Start</a:t>
            </a:r>
            <a:r>
              <a:rPr lang="zh-CN" altLang="en-US" dirty="0"/>
              <a:t> </a:t>
            </a:r>
            <a:r>
              <a:rPr lang="en-US" altLang="zh-CN" dirty="0"/>
              <a:t>Ref&gt;Alt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列组合，这列信息可能会很长，过长部分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680A24C-A228-D8F5-7827-07009889C465}"/>
              </a:ext>
            </a:extLst>
          </p:cNvPr>
          <p:cNvCxnSpPr>
            <a:cxnSpLocks/>
          </p:cNvCxnSpPr>
          <p:nvPr/>
        </p:nvCxnSpPr>
        <p:spPr>
          <a:xfrm flipV="1">
            <a:off x="4280737" y="3072641"/>
            <a:ext cx="873909" cy="9501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02FC986D-2A8F-2FC2-6684-3D4B81E56BC8}"/>
              </a:ext>
            </a:extLst>
          </p:cNvPr>
          <p:cNvSpPr/>
          <p:nvPr/>
        </p:nvSpPr>
        <p:spPr>
          <a:xfrm>
            <a:off x="2616200" y="3236759"/>
            <a:ext cx="970666" cy="28234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8727CC0-4C7B-9709-6456-28ADE715D75B}"/>
              </a:ext>
            </a:extLst>
          </p:cNvPr>
          <p:cNvSpPr txBox="1"/>
          <p:nvPr/>
        </p:nvSpPr>
        <p:spPr>
          <a:xfrm>
            <a:off x="5607050" y="3519106"/>
            <a:ext cx="464328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NUChange</a:t>
            </a:r>
            <a:r>
              <a:rPr lang="zh-CN" altLang="en-US" dirty="0"/>
              <a:t>，这列信息可能会很长，过长部分变成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67BDAC9-EF11-AC9D-EC88-26845DD11787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3586866" y="3377933"/>
            <a:ext cx="2020184" cy="46433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239E2EC5-4CEB-3C6A-E35C-B7D19AE19926}"/>
              </a:ext>
            </a:extLst>
          </p:cNvPr>
          <p:cNvSpPr/>
          <p:nvPr/>
        </p:nvSpPr>
        <p:spPr>
          <a:xfrm>
            <a:off x="2607536" y="3490893"/>
            <a:ext cx="1169327" cy="28234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E86B25C-7248-2435-7D4B-2A8EAC5487E5}"/>
              </a:ext>
            </a:extLst>
          </p:cNvPr>
          <p:cNvSpPr txBox="1"/>
          <p:nvPr/>
        </p:nvSpPr>
        <p:spPr>
          <a:xfrm>
            <a:off x="5643336" y="4231310"/>
            <a:ext cx="162997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AAChange</a:t>
            </a:r>
            <a:endParaRPr lang="zh-CN" altLang="en-US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7B270E1-443C-2171-880B-83D9CF69DEE7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3776863" y="3632067"/>
            <a:ext cx="1866473" cy="78390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06FB1EBF-05A9-6832-A1FA-534727D17DD3}"/>
              </a:ext>
            </a:extLst>
          </p:cNvPr>
          <p:cNvSpPr/>
          <p:nvPr/>
        </p:nvSpPr>
        <p:spPr>
          <a:xfrm>
            <a:off x="2588230" y="3731168"/>
            <a:ext cx="2253622" cy="2401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629BCE0-191E-DBFF-A8E6-EE99EFE37AEA}"/>
              </a:ext>
            </a:extLst>
          </p:cNvPr>
          <p:cNvSpPr txBox="1"/>
          <p:nvPr/>
        </p:nvSpPr>
        <p:spPr>
          <a:xfrm>
            <a:off x="5663612" y="4700705"/>
            <a:ext cx="350594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GeneDetail.refGene</a:t>
            </a:r>
            <a:r>
              <a:rPr lang="en-US" altLang="zh-CN" dirty="0"/>
              <a:t> exon</a:t>
            </a:r>
            <a:endParaRPr lang="zh-CN" altLang="en-US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4756879-B64E-2253-E644-2AAB2421936A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4072176" y="3978029"/>
            <a:ext cx="1591436" cy="90734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E1EAFF-9FCC-61FB-C180-D651DE39B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6" t="3176" r="37500" b="52463"/>
          <a:stretch/>
        </p:blipFill>
        <p:spPr>
          <a:xfrm>
            <a:off x="1269999" y="2349500"/>
            <a:ext cx="9366961" cy="43306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54ED899-03D5-4487-B1CE-6B00E829AE42}"/>
              </a:ext>
            </a:extLst>
          </p:cNvPr>
          <p:cNvSpPr txBox="1"/>
          <p:nvPr/>
        </p:nvSpPr>
        <p:spPr>
          <a:xfrm>
            <a:off x="156150" y="215836"/>
            <a:ext cx="11823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第二列</a:t>
            </a:r>
            <a:r>
              <a:rPr lang="en-US" altLang="zh-CN" dirty="0"/>
              <a:t>Genotype &amp; Quality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Depth_Quality</a:t>
            </a:r>
            <a:r>
              <a:rPr lang="zh-CN" altLang="en-US" dirty="0"/>
              <a:t>、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Genotype_Quality</a:t>
            </a:r>
            <a:r>
              <a:rPr lang="zh-CN" altLang="en-US" dirty="0"/>
              <a:t>、</a:t>
            </a:r>
            <a:r>
              <a:rPr lang="en-US" altLang="zh-CN" dirty="0" err="1"/>
              <a:t>Variant_Quality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Depth_Quality</a:t>
            </a:r>
            <a:r>
              <a:rPr lang="zh-CN" altLang="en-US" dirty="0"/>
              <a:t>、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/>
              <a:t>Genotype</a:t>
            </a:r>
          </a:p>
          <a:p>
            <a:endParaRPr lang="en-US" altLang="zh-CN" dirty="0"/>
          </a:p>
          <a:p>
            <a:r>
              <a:rPr lang="zh-CN" altLang="en-US" dirty="0"/>
              <a:t>中间染色体不加了，不知道啥意思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57121-F888-C934-3F0E-43238D89AAD8}"/>
              </a:ext>
            </a:extLst>
          </p:cNvPr>
          <p:cNvSpPr/>
          <p:nvPr/>
        </p:nvSpPr>
        <p:spPr>
          <a:xfrm>
            <a:off x="6096000" y="4518024"/>
            <a:ext cx="8255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A260CB-CFC2-4202-53E4-643626D1AC97}"/>
              </a:ext>
            </a:extLst>
          </p:cNvPr>
          <p:cNvSpPr txBox="1"/>
          <p:nvPr/>
        </p:nvSpPr>
        <p:spPr>
          <a:xfrm>
            <a:off x="6545725" y="5410197"/>
            <a:ext cx="317500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AF: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  <a:p>
            <a:r>
              <a:rPr lang="en-US" altLang="zh-CN" dirty="0"/>
              <a:t>AF</a:t>
            </a:r>
            <a:r>
              <a:rPr lang="zh-CN" altLang="en-US" dirty="0"/>
              <a:t>是固定词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D2DDE80-9273-F4A9-5FDA-0BC68D89D6ED}"/>
              </a:ext>
            </a:extLst>
          </p:cNvPr>
          <p:cNvCxnSpPr>
            <a:cxnSpLocks/>
          </p:cNvCxnSpPr>
          <p:nvPr/>
        </p:nvCxnSpPr>
        <p:spPr>
          <a:xfrm>
            <a:off x="6921500" y="4711700"/>
            <a:ext cx="466641" cy="71586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504AAE7-AA32-357D-E6CA-C56F4ADC123B}"/>
              </a:ext>
            </a:extLst>
          </p:cNvPr>
          <p:cNvSpPr/>
          <p:nvPr/>
        </p:nvSpPr>
        <p:spPr>
          <a:xfrm>
            <a:off x="4739913" y="2582661"/>
            <a:ext cx="2511787" cy="169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4A0429-98E8-DC41-A8F6-A758ACB97CEF}"/>
              </a:ext>
            </a:extLst>
          </p:cNvPr>
          <p:cNvSpPr/>
          <p:nvPr/>
        </p:nvSpPr>
        <p:spPr>
          <a:xfrm>
            <a:off x="4739913" y="4413249"/>
            <a:ext cx="2372086" cy="5778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FE9753-144A-9977-7A2E-B6396BCA179F}"/>
              </a:ext>
            </a:extLst>
          </p:cNvPr>
          <p:cNvSpPr/>
          <p:nvPr/>
        </p:nvSpPr>
        <p:spPr>
          <a:xfrm>
            <a:off x="4851399" y="4508499"/>
            <a:ext cx="10795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41B2AF-1B44-9B52-09E4-47A4EB231D65}"/>
              </a:ext>
            </a:extLst>
          </p:cNvPr>
          <p:cNvSpPr txBox="1"/>
          <p:nvPr/>
        </p:nvSpPr>
        <p:spPr>
          <a:xfrm>
            <a:off x="1921031" y="5410198"/>
            <a:ext cx="4152900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Depth_Quality</a:t>
            </a:r>
            <a:r>
              <a:rPr lang="en-US" altLang="zh-CN" dirty="0"/>
              <a:t>(</a:t>
            </a:r>
            <a:r>
              <a:rPr lang="en-US" altLang="zh-CN" dirty="0" err="1"/>
              <a:t>DP:Seq_Depths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ID))</a:t>
            </a:r>
          </a:p>
          <a:p>
            <a:r>
              <a:rPr lang="en-US" altLang="zh-CN" dirty="0"/>
              <a:t>DP</a:t>
            </a:r>
            <a:r>
              <a:rPr lang="zh-CN" altLang="en-US" dirty="0"/>
              <a:t>是固定词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17D4FDE-EE93-45FD-AC5D-DAFC5BF6145C}"/>
              </a:ext>
            </a:extLst>
          </p:cNvPr>
          <p:cNvCxnSpPr>
            <a:cxnSpLocks/>
          </p:cNvCxnSpPr>
          <p:nvPr/>
        </p:nvCxnSpPr>
        <p:spPr>
          <a:xfrm>
            <a:off x="5006613" y="4944237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11A5541-9244-8400-8549-B09899583943}"/>
              </a:ext>
            </a:extLst>
          </p:cNvPr>
          <p:cNvSpPr/>
          <p:nvPr/>
        </p:nvSpPr>
        <p:spPr>
          <a:xfrm>
            <a:off x="4739913" y="2981323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E610B2-8E48-3AE0-2C58-FDEB4A75CA2A}"/>
              </a:ext>
            </a:extLst>
          </p:cNvPr>
          <p:cNvSpPr txBox="1"/>
          <p:nvPr/>
        </p:nvSpPr>
        <p:spPr>
          <a:xfrm>
            <a:off x="1354653" y="1965503"/>
            <a:ext cx="3496746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</a:t>
            </a:r>
            <a:r>
              <a:rPr lang="en-US" altLang="zh-CN" dirty="0"/>
              <a:t>Genotype Quality</a:t>
            </a:r>
          </a:p>
          <a:p>
            <a:r>
              <a:rPr lang="en-US" altLang="zh-CN" dirty="0" err="1"/>
              <a:t>Genotype_Quality</a:t>
            </a:r>
            <a:r>
              <a:rPr lang="zh-CN" altLang="en-US" dirty="0"/>
              <a:t>列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CFDF904-E31C-75A9-7263-3DADC891607D}"/>
              </a:ext>
            </a:extLst>
          </p:cNvPr>
          <p:cNvCxnSpPr>
            <a:cxnSpLocks/>
          </p:cNvCxnSpPr>
          <p:nvPr/>
        </p:nvCxnSpPr>
        <p:spPr>
          <a:xfrm flipH="1" flipV="1">
            <a:off x="3977391" y="2349500"/>
            <a:ext cx="819310" cy="64631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84F97CD-AA21-59D7-A56D-44E28123494A}"/>
              </a:ext>
            </a:extLst>
          </p:cNvPr>
          <p:cNvSpPr/>
          <p:nvPr/>
        </p:nvSpPr>
        <p:spPr>
          <a:xfrm>
            <a:off x="4739913" y="3376608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48EC83-6DFB-D37A-B302-6ADB14727B8E}"/>
              </a:ext>
            </a:extLst>
          </p:cNvPr>
          <p:cNvSpPr txBox="1"/>
          <p:nvPr/>
        </p:nvSpPr>
        <p:spPr>
          <a:xfrm>
            <a:off x="546435" y="3125630"/>
            <a:ext cx="3496746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Variant Quality</a:t>
            </a:r>
            <a:endParaRPr lang="zh-CN" altLang="en-US" dirty="0"/>
          </a:p>
          <a:p>
            <a:r>
              <a:rPr lang="en-US" altLang="zh-CN" dirty="0" err="1"/>
              <a:t>Variant_Quality</a:t>
            </a:r>
            <a:r>
              <a:rPr lang="zh-CN" altLang="en-US" dirty="0"/>
              <a:t>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4538EC6-5D65-3068-D716-DE5D0EF29C7B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4043181" y="3448796"/>
            <a:ext cx="696732" cy="775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6768DF1-6CFC-164D-D941-BF22C18417EE}"/>
              </a:ext>
            </a:extLst>
          </p:cNvPr>
          <p:cNvSpPr/>
          <p:nvPr/>
        </p:nvSpPr>
        <p:spPr>
          <a:xfrm>
            <a:off x="4739913" y="3756430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A3E52-A491-9F6C-5364-4F427D153CC2}"/>
              </a:ext>
            </a:extLst>
          </p:cNvPr>
          <p:cNvSpPr txBox="1"/>
          <p:nvPr/>
        </p:nvSpPr>
        <p:spPr>
          <a:xfrm>
            <a:off x="546435" y="3957750"/>
            <a:ext cx="3456105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Depth Quality</a:t>
            </a:r>
            <a:endParaRPr lang="zh-CN" altLang="en-US" dirty="0"/>
          </a:p>
          <a:p>
            <a:r>
              <a:rPr lang="en-US" altLang="zh-CN" dirty="0" err="1"/>
              <a:t>Depth_Quality</a:t>
            </a:r>
            <a:r>
              <a:rPr lang="zh-CN" altLang="en-US" dirty="0"/>
              <a:t>列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614602C-48ED-FEDE-6427-17479F376D48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4002540" y="4049700"/>
            <a:ext cx="753520" cy="23121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732CD59-7BBE-9C0F-E87D-6A3005DB2A7B}"/>
              </a:ext>
            </a:extLst>
          </p:cNvPr>
          <p:cNvSpPr/>
          <p:nvPr/>
        </p:nvSpPr>
        <p:spPr>
          <a:xfrm>
            <a:off x="6411190" y="3083470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68D87D-08AF-EE7D-A22A-95C1E2581F78}"/>
              </a:ext>
            </a:extLst>
          </p:cNvPr>
          <p:cNvSpPr txBox="1"/>
          <p:nvPr/>
        </p:nvSpPr>
        <p:spPr>
          <a:xfrm>
            <a:off x="7989073" y="2310854"/>
            <a:ext cx="3410409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Allele Fraction</a:t>
            </a:r>
          </a:p>
          <a:p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3D4608C-067E-47BB-2745-FBC207A7D5FB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7340603" y="2634020"/>
            <a:ext cx="648470" cy="40925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C5BB5100-5D26-B86D-ED98-214386CC8A43}"/>
              </a:ext>
            </a:extLst>
          </p:cNvPr>
          <p:cNvSpPr/>
          <p:nvPr/>
        </p:nvSpPr>
        <p:spPr>
          <a:xfrm>
            <a:off x="6411190" y="3669066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7418490-50EC-CEC5-BC20-075E2A2CD12E}"/>
              </a:ext>
            </a:extLst>
          </p:cNvPr>
          <p:cNvSpPr txBox="1"/>
          <p:nvPr/>
        </p:nvSpPr>
        <p:spPr>
          <a:xfrm>
            <a:off x="8040166" y="3317830"/>
            <a:ext cx="2881833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</a:t>
            </a:r>
            <a:r>
              <a:rPr lang="en-US" altLang="zh-CN" dirty="0"/>
              <a:t>Depth</a:t>
            </a:r>
          </a:p>
          <a:p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44FC131-4AD9-521E-B314-E8A18F2B9A1D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7602176" y="3640996"/>
            <a:ext cx="437990" cy="7418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89ED0A4-EBEB-D039-5342-CB3F45FD2328}"/>
              </a:ext>
            </a:extLst>
          </p:cNvPr>
          <p:cNvSpPr txBox="1"/>
          <p:nvPr/>
        </p:nvSpPr>
        <p:spPr>
          <a:xfrm>
            <a:off x="8003488" y="4090598"/>
            <a:ext cx="3976004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他们没有加上一个，</a:t>
            </a:r>
            <a:endParaRPr lang="en-US" altLang="zh-CN" dirty="0"/>
          </a:p>
          <a:p>
            <a:r>
              <a:rPr lang="zh-CN" altLang="en-US" dirty="0"/>
              <a:t>上方文字信息</a:t>
            </a:r>
            <a:r>
              <a:rPr lang="en-US" altLang="zh-CN" dirty="0"/>
              <a:t>Genotype</a:t>
            </a:r>
          </a:p>
          <a:p>
            <a:r>
              <a:rPr lang="en-US" altLang="zh-CN" dirty="0"/>
              <a:t>Genotype</a:t>
            </a:r>
            <a:r>
              <a:rPr lang="zh-CN" altLang="en-US" dirty="0"/>
              <a:t>列</a:t>
            </a:r>
            <a:endParaRPr lang="en-US" altLang="zh-CN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4C9B864-76A1-D797-833C-FC9E99263805}"/>
              </a:ext>
            </a:extLst>
          </p:cNvPr>
          <p:cNvSpPr/>
          <p:nvPr/>
        </p:nvSpPr>
        <p:spPr>
          <a:xfrm>
            <a:off x="6407307" y="4047668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F5BF3D3-7B34-5F88-DA33-BD94FBA2850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7598293" y="4117848"/>
            <a:ext cx="405195" cy="43441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57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498293-5EDF-6EE0-A59B-47A79E826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8" t="1681" r="32395" b="55951"/>
          <a:stretch/>
        </p:blipFill>
        <p:spPr>
          <a:xfrm>
            <a:off x="2397237" y="2348021"/>
            <a:ext cx="7397526" cy="430677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DE933BC-0EE5-E5B9-1AD0-7A9FB032C722}"/>
              </a:ext>
            </a:extLst>
          </p:cNvPr>
          <p:cNvSpPr txBox="1"/>
          <p:nvPr/>
        </p:nvSpPr>
        <p:spPr>
          <a:xfrm>
            <a:off x="156150" y="215836"/>
            <a:ext cx="11823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第三列</a:t>
            </a:r>
            <a:r>
              <a:rPr lang="en-US" altLang="zh-CN" dirty="0"/>
              <a:t>Gene Related Diseases</a:t>
            </a:r>
          </a:p>
          <a:p>
            <a:r>
              <a:rPr lang="zh-CN" altLang="en-US" dirty="0"/>
              <a:t>读取文件中表头</a:t>
            </a:r>
            <a:r>
              <a:rPr lang="en-US" altLang="zh-CN" dirty="0" err="1"/>
              <a:t>Gene_Related_Diseases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，以分号分割并排展示</a:t>
            </a:r>
            <a:endParaRPr lang="en-US" altLang="zh-CN" dirty="0"/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E3F47B-4307-078D-4856-67ED640F7B37}"/>
              </a:ext>
            </a:extLst>
          </p:cNvPr>
          <p:cNvSpPr/>
          <p:nvPr/>
        </p:nvSpPr>
        <p:spPr>
          <a:xfrm>
            <a:off x="5006612" y="2856676"/>
            <a:ext cx="2511787" cy="1418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12F216-9BC5-81A9-4E59-45723D46327F}"/>
              </a:ext>
            </a:extLst>
          </p:cNvPr>
          <p:cNvSpPr/>
          <p:nvPr/>
        </p:nvSpPr>
        <p:spPr>
          <a:xfrm>
            <a:off x="4879612" y="4653197"/>
            <a:ext cx="2638787" cy="6554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94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8E97A05-1DA1-AAC1-EF0C-13BC501EC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9" t="185" r="-2609" b="43989"/>
          <a:stretch/>
        </p:blipFill>
        <p:spPr>
          <a:xfrm>
            <a:off x="263813" y="2247161"/>
            <a:ext cx="9398000" cy="433127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16E839-F887-B82D-E44B-F4DB5798BEBD}"/>
              </a:ext>
            </a:extLst>
          </p:cNvPr>
          <p:cNvSpPr txBox="1"/>
          <p:nvPr/>
        </p:nvSpPr>
        <p:spPr>
          <a:xfrm>
            <a:off x="184329" y="62488"/>
            <a:ext cx="11823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（原标题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My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Verdict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感觉怪怪的），这列有点复杂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新用户打开时这列信息显示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NA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，用户点击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NA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，弹出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个圈让他们选：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Pathogenic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Likely pathogenic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VUS++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VUS+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 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Likely benign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Benign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个圈支持多选（暂定支持多选吧），然后点击确认，在这列展示刚刚客户点击的信息，如果客户之前对一个突变判断的是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Pathogenic 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，如红框（图片里的他们简写成了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，我们不需要简写，旁边的小人图标我们不需要，不用管），现在有证据证明这个突变是良性的，用户点击之前填写的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的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，弹出对话框，然后他修改成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Benign</a:t>
            </a:r>
          </a:p>
          <a:p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然后根据客户的修改，将</a:t>
            </a:r>
            <a:r>
              <a:rPr lang="en-US" altLang="zh-CN" dirty="0" err="1">
                <a:solidFill>
                  <a:srgbClr val="404040"/>
                </a:solidFill>
                <a:latin typeface="DeepSeek-CJK-patch"/>
              </a:rPr>
              <a:t>AAChange.refGene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(</a:t>
            </a:r>
            <a:r>
              <a:rPr lang="en-US" altLang="zh-CN" dirty="0" err="1">
                <a:solidFill>
                  <a:srgbClr val="404040"/>
                </a:solidFill>
                <a:latin typeface="DeepSeek-CJK-patch"/>
              </a:rPr>
              <a:t>Gene.refGene+GeneDetail.refGene+AAChange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）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+</a:t>
            </a:r>
            <a:r>
              <a:rPr lang="en-US" altLang="zh-CN" dirty="0" err="1">
                <a:solidFill>
                  <a:srgbClr val="404040"/>
                </a:solidFill>
                <a:latin typeface="DeepSeek-CJK-patch"/>
              </a:rPr>
              <a:t>Chr+Start+End+</a:t>
            </a:r>
            <a:r>
              <a:rPr lang="en-US" altLang="zh-CN" i="0" dirty="0" err="1">
                <a:effectLst/>
                <a:latin typeface="-apple-system"/>
              </a:rPr>
              <a:t>Ref+Alt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和用户填写的信息，按照用户为单位存储，并将信息同步到这个用户所有任务的</a:t>
            </a:r>
            <a:r>
              <a:rPr lang="zh-CN" altLang="en-US" dirty="0"/>
              <a:t>show</a:t>
            </a:r>
            <a:r>
              <a:rPr lang="en-US" altLang="zh-CN" dirty="0" err="1"/>
              <a:t>MutWES</a:t>
            </a:r>
            <a:r>
              <a:rPr lang="zh-CN" altLang="en-US" dirty="0"/>
              <a:t>标签页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的这个突变的展示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(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构建当前登陆用户个人专属的突变数据库</a:t>
            </a:r>
            <a:r>
              <a:rPr lang="en-US" altLang="zh-CN">
                <a:solidFill>
                  <a:srgbClr val="404040"/>
                </a:solidFill>
                <a:latin typeface="DeepSeek-CJK-patch"/>
              </a:rPr>
              <a:t>)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（不知道客户需不需要所有添加了信息的突变的下载）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F6FC2-0CB8-D8AA-C086-EC16A3411693}"/>
              </a:ext>
            </a:extLst>
          </p:cNvPr>
          <p:cNvSpPr/>
          <p:nvPr/>
        </p:nvSpPr>
        <p:spPr>
          <a:xfrm>
            <a:off x="3765263" y="2869145"/>
            <a:ext cx="7378700" cy="3112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88F274-7F3D-063C-7A98-6B9E3452EBB5}"/>
              </a:ext>
            </a:extLst>
          </p:cNvPr>
          <p:cNvSpPr/>
          <p:nvPr/>
        </p:nvSpPr>
        <p:spPr>
          <a:xfrm>
            <a:off x="4118263" y="30350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B0F0"/>
                </a:solidFill>
              </a:rPr>
              <a:t>Pathogenic</a:t>
            </a:r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D6AB27-BCA0-958C-B8AC-B79F1788F175}"/>
              </a:ext>
            </a:extLst>
          </p:cNvPr>
          <p:cNvSpPr/>
          <p:nvPr/>
        </p:nvSpPr>
        <p:spPr>
          <a:xfrm>
            <a:off x="4118263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03B5AE-CD1D-78E6-2B59-34892BD74148}"/>
              </a:ext>
            </a:extLst>
          </p:cNvPr>
          <p:cNvSpPr/>
          <p:nvPr/>
        </p:nvSpPr>
        <p:spPr>
          <a:xfrm>
            <a:off x="6175484" y="415235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837EAA-3FC4-5D58-2456-C3E3A87C799E}"/>
              </a:ext>
            </a:extLst>
          </p:cNvPr>
          <p:cNvSpPr/>
          <p:nvPr/>
        </p:nvSpPr>
        <p:spPr>
          <a:xfrm>
            <a:off x="6175484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680387-3E1A-DADD-7670-3D19C3241AA4}"/>
              </a:ext>
            </a:extLst>
          </p:cNvPr>
          <p:cNvSpPr/>
          <p:nvPr/>
        </p:nvSpPr>
        <p:spPr>
          <a:xfrm>
            <a:off x="6175483" y="3035069"/>
            <a:ext cx="2141537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pathogenic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33B820-7727-D731-F474-DB6FBFD2AC10}"/>
              </a:ext>
            </a:extLst>
          </p:cNvPr>
          <p:cNvSpPr/>
          <p:nvPr/>
        </p:nvSpPr>
        <p:spPr>
          <a:xfrm>
            <a:off x="4118263" y="415235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7A086C6-011A-7B92-96DF-C5DC5A5D2E46}"/>
              </a:ext>
            </a:extLst>
          </p:cNvPr>
          <p:cNvSpPr/>
          <p:nvPr/>
        </p:nvSpPr>
        <p:spPr>
          <a:xfrm>
            <a:off x="8512463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 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270E65E-D289-0880-C4F5-E5C697701C0C}"/>
              </a:ext>
            </a:extLst>
          </p:cNvPr>
          <p:cNvSpPr/>
          <p:nvPr/>
        </p:nvSpPr>
        <p:spPr>
          <a:xfrm>
            <a:off x="4717763" y="4930293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477B6E-543D-492A-3D8C-73403E609E80}"/>
              </a:ext>
            </a:extLst>
          </p:cNvPr>
          <p:cNvSpPr/>
          <p:nvPr/>
        </p:nvSpPr>
        <p:spPr>
          <a:xfrm>
            <a:off x="6458238" y="4930293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0130010-3236-AFED-D1E2-A7B4C0B883D0}"/>
              </a:ext>
            </a:extLst>
          </p:cNvPr>
          <p:cNvSpPr/>
          <p:nvPr/>
        </p:nvSpPr>
        <p:spPr>
          <a:xfrm>
            <a:off x="8060025" y="4930293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Reset to Default</a:t>
            </a:r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E150EB7-CB20-EB10-2921-6CAF144DE0A8}"/>
              </a:ext>
            </a:extLst>
          </p:cNvPr>
          <p:cNvSpPr/>
          <p:nvPr/>
        </p:nvSpPr>
        <p:spPr>
          <a:xfrm>
            <a:off x="4717763" y="5423945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5060B53-CE8F-13B6-359C-5FFBD7EE7AB9}"/>
              </a:ext>
            </a:extLst>
          </p:cNvPr>
          <p:cNvSpPr/>
          <p:nvPr/>
        </p:nvSpPr>
        <p:spPr>
          <a:xfrm>
            <a:off x="6458238" y="5423945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清除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166460D-5DA4-6C31-BC7D-9191EB7A1C92}"/>
              </a:ext>
            </a:extLst>
          </p:cNvPr>
          <p:cNvSpPr/>
          <p:nvPr/>
        </p:nvSpPr>
        <p:spPr>
          <a:xfrm>
            <a:off x="8060025" y="5423945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恢复默认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74C330-2A54-C502-E25E-1C01D801CDE3}"/>
              </a:ext>
            </a:extLst>
          </p:cNvPr>
          <p:cNvSpPr txBox="1"/>
          <p:nvPr/>
        </p:nvSpPr>
        <p:spPr>
          <a:xfrm>
            <a:off x="156150" y="5024081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弹出的页面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EDBF330-0FD0-055F-ECE7-63EA95BD2339}"/>
              </a:ext>
            </a:extLst>
          </p:cNvPr>
          <p:cNvCxnSpPr>
            <a:cxnSpLocks/>
          </p:cNvCxnSpPr>
          <p:nvPr/>
        </p:nvCxnSpPr>
        <p:spPr>
          <a:xfrm flipH="1">
            <a:off x="1581363" y="4520653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4AD71AA-0ACE-3D69-FAF5-40857DF51D1C}"/>
              </a:ext>
            </a:extLst>
          </p:cNvPr>
          <p:cNvSpPr txBox="1"/>
          <p:nvPr/>
        </p:nvSpPr>
        <p:spPr>
          <a:xfrm>
            <a:off x="780550" y="5687306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英文按钮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16C5AB-C01C-E6D0-09D5-995888936853}"/>
              </a:ext>
            </a:extLst>
          </p:cNvPr>
          <p:cNvCxnSpPr>
            <a:cxnSpLocks/>
          </p:cNvCxnSpPr>
          <p:nvPr/>
        </p:nvCxnSpPr>
        <p:spPr>
          <a:xfrm flipH="1">
            <a:off x="2205763" y="5183878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DC40E90-54F6-9E91-3663-50F7D5919D6C}"/>
              </a:ext>
            </a:extLst>
          </p:cNvPr>
          <p:cNvSpPr txBox="1"/>
          <p:nvPr/>
        </p:nvSpPr>
        <p:spPr>
          <a:xfrm>
            <a:off x="1715650" y="6368898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中文按钮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DAD9FD0-EBB8-BA9F-E924-F9DDB46F8320}"/>
              </a:ext>
            </a:extLst>
          </p:cNvPr>
          <p:cNvCxnSpPr>
            <a:cxnSpLocks/>
          </p:cNvCxnSpPr>
          <p:nvPr/>
        </p:nvCxnSpPr>
        <p:spPr>
          <a:xfrm flipH="1">
            <a:off x="3140863" y="5810409"/>
            <a:ext cx="1679318" cy="4649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611C842-EB3E-C78A-5604-75BDEFC0A095}"/>
              </a:ext>
            </a:extLst>
          </p:cNvPr>
          <p:cNvSpPr/>
          <p:nvPr/>
        </p:nvSpPr>
        <p:spPr>
          <a:xfrm>
            <a:off x="1417420" y="2818053"/>
            <a:ext cx="865693" cy="946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656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DDCC242-F691-3FF8-EFC8-97D67B5E4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6" t="1182" r="6667" b="44488"/>
          <a:stretch/>
        </p:blipFill>
        <p:spPr>
          <a:xfrm>
            <a:off x="2044699" y="2590800"/>
            <a:ext cx="6728493" cy="39750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D509116-E246-ED2D-DC43-81EC559D821D}"/>
              </a:ext>
            </a:extLst>
          </p:cNvPr>
          <p:cNvSpPr txBox="1"/>
          <p:nvPr/>
        </p:nvSpPr>
        <p:spPr>
          <a:xfrm>
            <a:off x="156150" y="63520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第五列</a:t>
            </a:r>
            <a:r>
              <a:rPr lang="en-US" altLang="zh-CN" dirty="0"/>
              <a:t>ACMG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ACMG_result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ACMG_result</a:t>
            </a:r>
            <a:r>
              <a:rPr lang="zh-CN" altLang="en-US" dirty="0"/>
              <a:t>、</a:t>
            </a:r>
            <a:r>
              <a:rPr lang="en-US" altLang="zh-CN" dirty="0"/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，其中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列格式如下：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PVS1; PS1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，展示时以分号分割该列展示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B7851A-65DE-75E8-0DB2-B23854D41070}"/>
              </a:ext>
            </a:extLst>
          </p:cNvPr>
          <p:cNvSpPr/>
          <p:nvPr/>
        </p:nvSpPr>
        <p:spPr>
          <a:xfrm>
            <a:off x="3632200" y="2943225"/>
            <a:ext cx="1041401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EDAC1F-B906-9485-84A5-F2E121EB4FE5}"/>
              </a:ext>
            </a:extLst>
          </p:cNvPr>
          <p:cNvSpPr/>
          <p:nvPr/>
        </p:nvSpPr>
        <p:spPr>
          <a:xfrm>
            <a:off x="3632200" y="4178300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F54C97-4D74-FF59-795A-54F5C70BA5D4}"/>
              </a:ext>
            </a:extLst>
          </p:cNvPr>
          <p:cNvSpPr/>
          <p:nvPr/>
        </p:nvSpPr>
        <p:spPr>
          <a:xfrm>
            <a:off x="3917226" y="4254500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98A4B5-6E3B-C4FC-2BDA-D3ADE5B2277F}"/>
              </a:ext>
            </a:extLst>
          </p:cNvPr>
          <p:cNvSpPr txBox="1"/>
          <p:nvPr/>
        </p:nvSpPr>
        <p:spPr>
          <a:xfrm>
            <a:off x="3332495" y="5181600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1FB8591-D368-920E-7D15-55242BEE43A4}"/>
              </a:ext>
            </a:extLst>
          </p:cNvPr>
          <p:cNvCxnSpPr>
            <a:cxnSpLocks/>
          </p:cNvCxnSpPr>
          <p:nvPr/>
        </p:nvCxnSpPr>
        <p:spPr>
          <a:xfrm>
            <a:off x="4216400" y="4660900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73A4CE4-DEDB-A7AC-EB45-1655BBF111D5}"/>
              </a:ext>
            </a:extLst>
          </p:cNvPr>
          <p:cNvSpPr/>
          <p:nvPr/>
        </p:nvSpPr>
        <p:spPr>
          <a:xfrm>
            <a:off x="3917226" y="2976564"/>
            <a:ext cx="451574" cy="186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38AA41-8E72-E0D9-95E2-36ACD56A177B}"/>
              </a:ext>
            </a:extLst>
          </p:cNvPr>
          <p:cNvSpPr txBox="1"/>
          <p:nvPr/>
        </p:nvSpPr>
        <p:spPr>
          <a:xfrm>
            <a:off x="5082547" y="2437368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41A017-CC68-59C1-05A7-EA496F1E51B0}"/>
              </a:ext>
            </a:extLst>
          </p:cNvPr>
          <p:cNvCxnSpPr>
            <a:cxnSpLocks/>
          </p:cNvCxnSpPr>
          <p:nvPr/>
        </p:nvCxnSpPr>
        <p:spPr>
          <a:xfrm flipV="1">
            <a:off x="4368800" y="2590800"/>
            <a:ext cx="723900" cy="4318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BCEC4CC-0E1B-D581-2FCC-D739680562CE}"/>
              </a:ext>
            </a:extLst>
          </p:cNvPr>
          <p:cNvSpPr/>
          <p:nvPr/>
        </p:nvSpPr>
        <p:spPr>
          <a:xfrm>
            <a:off x="3790950" y="3176032"/>
            <a:ext cx="723900" cy="8326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362BA9-D6D4-3C9C-6784-3157592779AA}"/>
              </a:ext>
            </a:extLst>
          </p:cNvPr>
          <p:cNvSpPr txBox="1"/>
          <p:nvPr/>
        </p:nvSpPr>
        <p:spPr>
          <a:xfrm>
            <a:off x="5092700" y="3104634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ACMG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4BF52A2-C539-E259-D1E0-AF945F0AFD64}"/>
              </a:ext>
            </a:extLst>
          </p:cNvPr>
          <p:cNvCxnSpPr>
            <a:cxnSpLocks/>
          </p:cNvCxnSpPr>
          <p:nvPr/>
        </p:nvCxnSpPr>
        <p:spPr>
          <a:xfrm flipV="1">
            <a:off x="4514850" y="3258066"/>
            <a:ext cx="588003" cy="2921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9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70C8B46-D620-2BFB-E13D-E647C4AAF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2" t="-746" r="14059" b="52434"/>
          <a:stretch/>
        </p:blipFill>
        <p:spPr>
          <a:xfrm>
            <a:off x="3454400" y="2146301"/>
            <a:ext cx="4838700" cy="43818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FDCD51A-E2F3-6EC0-0BED-5A099218399C}"/>
              </a:ext>
            </a:extLst>
          </p:cNvPr>
          <p:cNvSpPr txBox="1"/>
          <p:nvPr/>
        </p:nvSpPr>
        <p:spPr>
          <a:xfrm>
            <a:off x="156150" y="63520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第六列</a:t>
            </a:r>
            <a:r>
              <a:rPr lang="en-US" altLang="zh-CN" dirty="0" err="1"/>
              <a:t>Clinvar</a:t>
            </a:r>
            <a:endParaRPr lang="en-US" altLang="zh-CN" dirty="0"/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Clinvar</a:t>
            </a:r>
            <a:r>
              <a:rPr lang="zh-CN" altLang="en-US" dirty="0"/>
              <a:t>（该列存在空白的可能）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Clinvar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Clinvar_ReviewStatus</a:t>
            </a:r>
            <a:r>
              <a:rPr lang="zh-CN" altLang="en-US" dirty="0"/>
              <a:t>，其中</a:t>
            </a:r>
            <a:r>
              <a:rPr lang="en-US" altLang="zh-CN" dirty="0" err="1"/>
              <a:t>Clinvar_ReviewStatus</a:t>
            </a:r>
            <a:r>
              <a:rPr lang="zh-CN" altLang="en-US" dirty="0"/>
              <a:t>给的是数字，</a:t>
            </a:r>
            <a:r>
              <a:rPr lang="en-US" altLang="zh-CN" dirty="0"/>
              <a:t>0-4</a:t>
            </a:r>
            <a:r>
              <a:rPr lang="zh-CN" altLang="en-US" dirty="0"/>
              <a:t>的数字，如果填的是</a:t>
            </a:r>
            <a:r>
              <a:rPr lang="en-US" altLang="zh-CN" dirty="0"/>
              <a:t>1</a:t>
            </a:r>
            <a:r>
              <a:rPr lang="zh-CN" altLang="en-US" dirty="0"/>
              <a:t>，则亮一个星星，填</a:t>
            </a:r>
            <a:r>
              <a:rPr lang="en-US" altLang="zh-CN" dirty="0"/>
              <a:t>3</a:t>
            </a:r>
            <a:r>
              <a:rPr lang="zh-CN" altLang="en-US" dirty="0"/>
              <a:t>亮三个星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D0FDF8-86A3-B1C4-87C7-4964FE6408BA}"/>
              </a:ext>
            </a:extLst>
          </p:cNvPr>
          <p:cNvSpPr/>
          <p:nvPr/>
        </p:nvSpPr>
        <p:spPr>
          <a:xfrm>
            <a:off x="4813300" y="2898259"/>
            <a:ext cx="1493505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916C39-51E8-4092-B196-54D23B189134}"/>
              </a:ext>
            </a:extLst>
          </p:cNvPr>
          <p:cNvSpPr/>
          <p:nvPr/>
        </p:nvSpPr>
        <p:spPr>
          <a:xfrm>
            <a:off x="4965700" y="4513946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A76A7-D8C7-6499-84D8-740129D0ACF8}"/>
              </a:ext>
            </a:extLst>
          </p:cNvPr>
          <p:cNvSpPr/>
          <p:nvPr/>
        </p:nvSpPr>
        <p:spPr>
          <a:xfrm>
            <a:off x="5250726" y="4590146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3F60A-E7B6-3DF4-33B2-1B0B9E9314EE}"/>
              </a:ext>
            </a:extLst>
          </p:cNvPr>
          <p:cNvSpPr txBox="1"/>
          <p:nvPr/>
        </p:nvSpPr>
        <p:spPr>
          <a:xfrm>
            <a:off x="4665995" y="5517246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A99238-6600-B5DA-03D1-9B5E2732BC1A}"/>
              </a:ext>
            </a:extLst>
          </p:cNvPr>
          <p:cNvCxnSpPr>
            <a:cxnSpLocks/>
          </p:cNvCxnSpPr>
          <p:nvPr/>
        </p:nvCxnSpPr>
        <p:spPr>
          <a:xfrm>
            <a:off x="5549900" y="4996546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CC17EE5-0E49-46DE-9A32-65DBDF2A0DF5}"/>
              </a:ext>
            </a:extLst>
          </p:cNvPr>
          <p:cNvSpPr/>
          <p:nvPr/>
        </p:nvSpPr>
        <p:spPr>
          <a:xfrm>
            <a:off x="5250726" y="3131066"/>
            <a:ext cx="451574" cy="29793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563DF-ACFB-D96A-090D-C510C14B67F6}"/>
              </a:ext>
            </a:extLst>
          </p:cNvPr>
          <p:cNvSpPr txBox="1"/>
          <p:nvPr/>
        </p:nvSpPr>
        <p:spPr>
          <a:xfrm>
            <a:off x="6416047" y="2392402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7FD9033-B913-AE8A-258D-04E7E951BC35}"/>
              </a:ext>
            </a:extLst>
          </p:cNvPr>
          <p:cNvCxnSpPr>
            <a:cxnSpLocks/>
          </p:cNvCxnSpPr>
          <p:nvPr/>
        </p:nvCxnSpPr>
        <p:spPr>
          <a:xfrm flipV="1">
            <a:off x="5626100" y="2545834"/>
            <a:ext cx="800100" cy="58523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F04A828-2ECB-E184-5C59-7B17A27EBEBA}"/>
              </a:ext>
            </a:extLst>
          </p:cNvPr>
          <p:cNvSpPr/>
          <p:nvPr/>
        </p:nvSpPr>
        <p:spPr>
          <a:xfrm>
            <a:off x="4965700" y="3429000"/>
            <a:ext cx="1041402" cy="2921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EBF54A-65CD-38A1-96E1-CF77D469E14E}"/>
              </a:ext>
            </a:extLst>
          </p:cNvPr>
          <p:cNvSpPr txBox="1"/>
          <p:nvPr/>
        </p:nvSpPr>
        <p:spPr>
          <a:xfrm>
            <a:off x="6799595" y="3320534"/>
            <a:ext cx="28524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Clinvar_ReviewStatus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01C7B0E-E7C8-EDC3-ED4A-AFDA64D8733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848350" y="3505200"/>
            <a:ext cx="951245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9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68990C-4089-DE22-04B9-4E86DAD08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3" t="-64" b="67503"/>
          <a:stretch/>
        </p:blipFill>
        <p:spPr>
          <a:xfrm>
            <a:off x="1244600" y="1723922"/>
            <a:ext cx="7061200" cy="29195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DA063E-2F95-21CE-EBDE-C8269EEC0D04}"/>
              </a:ext>
            </a:extLst>
          </p:cNvPr>
          <p:cNvSpPr txBox="1"/>
          <p:nvPr/>
        </p:nvSpPr>
        <p:spPr>
          <a:xfrm>
            <a:off x="156150" y="63520"/>
            <a:ext cx="11823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第六列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Frequencies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不按照图片格式来，展示表头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gnomAD_genome_ALL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gnomAD_exome_ALL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ExAC_ALL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1000g2015aug_all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信息，竖列放，正常情况下这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4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列是小数，如果显示是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，就不展示这个信息，比如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ExAC_ALL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这个是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，那这里只展示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3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行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默认展示前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个人群频率信息，</a:t>
            </a:r>
            <a:r>
              <a:rPr lang="zh-CN" altLang="en-US" dirty="0"/>
              <a:t>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，点击突变后展示全部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如果点击突变，下方（见下页）展示所有人群频率信息，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的也展示，蓝色底纹的是固定词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4D7E6C-765A-E2F8-9F41-96D37C2D8DBF}"/>
              </a:ext>
            </a:extLst>
          </p:cNvPr>
          <p:cNvSpPr txBox="1"/>
          <p:nvPr/>
        </p:nvSpPr>
        <p:spPr>
          <a:xfrm>
            <a:off x="5066261" y="3684974"/>
            <a:ext cx="5791200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GnomAD Genome Total  : </a:t>
            </a:r>
            <a:r>
              <a:rPr lang="en-US" altLang="zh-CN" sz="1600" dirty="0" err="1"/>
              <a:t>gnomAD_genome_ALL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GnomAD Exome Total     : </a:t>
            </a:r>
            <a:r>
              <a:rPr lang="en-US" altLang="zh-CN" sz="1600" dirty="0" err="1"/>
              <a:t>gnomAD_exome_ALL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ExAC Total                       : </a:t>
            </a:r>
            <a:r>
              <a:rPr lang="en-US" altLang="zh-CN" sz="1600" dirty="0" err="1"/>
              <a:t>ExAC_ALL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1000g2015aug Total        : 1000g2015aug_all</a:t>
            </a:r>
            <a:r>
              <a:rPr lang="zh-CN" altLang="en-US" sz="1600" dirty="0"/>
              <a:t>列信息 </a:t>
            </a:r>
            <a:endParaRPr lang="en-US" altLang="zh-CN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04959-B0F3-CC9E-AF05-808776EAAE56}"/>
              </a:ext>
            </a:extLst>
          </p:cNvPr>
          <p:cNvSpPr/>
          <p:nvPr/>
        </p:nvSpPr>
        <p:spPr>
          <a:xfrm>
            <a:off x="3027695" y="2377939"/>
            <a:ext cx="1493505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8D86721-9018-195C-37CC-2F4344D989E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234988" y="3400967"/>
            <a:ext cx="831273" cy="82261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75084BA-CC06-66DD-85EC-598EED910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45342"/>
              </p:ext>
            </p:extLst>
          </p:nvPr>
        </p:nvGraphicFramePr>
        <p:xfrm>
          <a:off x="736600" y="4791598"/>
          <a:ext cx="10472942" cy="196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354">
                  <a:extLst>
                    <a:ext uri="{9D8B030D-6E8A-4147-A177-3AD203B41FA5}">
                      <a16:colId xmlns:a16="http://schemas.microsoft.com/office/drawing/2014/main" val="739806791"/>
                    </a:ext>
                  </a:extLst>
                </a:gridCol>
                <a:gridCol w="1736954">
                  <a:extLst>
                    <a:ext uri="{9D8B030D-6E8A-4147-A177-3AD203B41FA5}">
                      <a16:colId xmlns:a16="http://schemas.microsoft.com/office/drawing/2014/main" val="1156054020"/>
                    </a:ext>
                  </a:extLst>
                </a:gridCol>
                <a:gridCol w="1281342">
                  <a:extLst>
                    <a:ext uri="{9D8B030D-6E8A-4147-A177-3AD203B41FA5}">
                      <a16:colId xmlns:a16="http://schemas.microsoft.com/office/drawing/2014/main" val="3730043793"/>
                    </a:ext>
                  </a:extLst>
                </a:gridCol>
                <a:gridCol w="1649642">
                  <a:extLst>
                    <a:ext uri="{9D8B030D-6E8A-4147-A177-3AD203B41FA5}">
                      <a16:colId xmlns:a16="http://schemas.microsoft.com/office/drawing/2014/main" val="3988666589"/>
                    </a:ext>
                  </a:extLst>
                </a:gridCol>
                <a:gridCol w="657454">
                  <a:extLst>
                    <a:ext uri="{9D8B030D-6E8A-4147-A177-3AD203B41FA5}">
                      <a16:colId xmlns:a16="http://schemas.microsoft.com/office/drawing/2014/main" val="3176932826"/>
                    </a:ext>
                  </a:extLst>
                </a:gridCol>
                <a:gridCol w="1020992">
                  <a:extLst>
                    <a:ext uri="{9D8B030D-6E8A-4147-A177-3AD203B41FA5}">
                      <a16:colId xmlns:a16="http://schemas.microsoft.com/office/drawing/2014/main" val="1258384770"/>
                    </a:ext>
                  </a:extLst>
                </a:gridCol>
                <a:gridCol w="1197204">
                  <a:extLst>
                    <a:ext uri="{9D8B030D-6E8A-4147-A177-3AD203B41FA5}">
                      <a16:colId xmlns:a16="http://schemas.microsoft.com/office/drawing/2014/main" val="1509783227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900850269"/>
                    </a:ext>
                  </a:extLst>
                </a:gridCol>
              </a:tblGrid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gnomAD_genome_ALL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gnomAD_exome_ALL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ExAC_ALL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1000g2015aug_all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64696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gnomAD_genome_AFR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ExAC_AFR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16573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gnomAD_genome_AMR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856715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ASJ: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gnomAD_genome_ASJ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ASJ: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gnomAD_exome_ASJ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ESA: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1000g2015aug_eas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74943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ExAC_FIN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EUR: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1000g2015aug_eur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03905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gnomAD_genome_FIN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gnomAD_exome_FIN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ExAC_NFE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1000g2015aug_sas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977732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gnomAD_genome_NFE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gnomAD_exome_NFE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ExAC_OTH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22000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gnomAD_genome_OTH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gnomAD_exome_OTH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ExAC_SAS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0554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gnomAD_exome_SAS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81399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FE021C-ACA0-FFBF-68BF-3A53C26A239A}"/>
              </a:ext>
            </a:extLst>
          </p:cNvPr>
          <p:cNvSpPr txBox="1"/>
          <p:nvPr/>
        </p:nvSpPr>
        <p:spPr>
          <a:xfrm>
            <a:off x="5124451" y="1796956"/>
            <a:ext cx="6855042" cy="181588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这里漏掉了一个重要信息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按照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AAChange.refGene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列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Chr+Start+End+</a:t>
            </a:r>
            <a:r>
              <a:rPr lang="en-US" altLang="zh-CN" sz="1400" i="0" dirty="0" err="1">
                <a:solidFill>
                  <a:srgbClr val="FF0000"/>
                </a:solidFill>
                <a:effectLst/>
                <a:latin typeface="-apple-system"/>
              </a:rPr>
              <a:t>Ref+Alt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+panel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任务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ID+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用户 进行存储，给出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AAChange.refGene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列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Chr+Start+End+</a:t>
            </a:r>
            <a:r>
              <a:rPr lang="en-US" altLang="zh-CN" sz="1400" i="0" dirty="0" err="1">
                <a:solidFill>
                  <a:srgbClr val="FF0000"/>
                </a:solidFill>
                <a:effectLst/>
                <a:latin typeface="-apple-system"/>
              </a:rPr>
              <a:t>Ref+Alt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+panel</a:t>
            </a:r>
            <a:r>
              <a:rPr lang="zh-CN" altLang="en-US" sz="1400" i="0" dirty="0">
                <a:solidFill>
                  <a:srgbClr val="FF0000"/>
                </a:solidFill>
                <a:effectLst/>
                <a:latin typeface="-apple-system"/>
              </a:rPr>
              <a:t>出现的次数和该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panel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所有任务数的比值，举例：某用户</a:t>
            </a:r>
            <a:r>
              <a:rPr lang="en-US" altLang="zh-CN" sz="1400" b="0" i="0" dirty="0" err="1">
                <a:solidFill>
                  <a:srgbClr val="FF0000"/>
                </a:solidFill>
                <a:effectLst/>
                <a:latin typeface="-apple-system"/>
              </a:rPr>
              <a:t>NEXome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 Plus Panel v1.0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跑了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100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个任务，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某一个突变在这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100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个任务结果中有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20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个任务出现了，那这个突变的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0.20(20/100)</a:t>
            </a:r>
            <a:r>
              <a:rPr lang="zh-CN" altLang="en-US" sz="1400" dirty="0">
                <a:solidFill>
                  <a:srgbClr val="FF0000"/>
                </a:solidFill>
              </a:rPr>
              <a:t>，如果用户删除了</a:t>
            </a:r>
            <a:r>
              <a:rPr lang="en-US" altLang="zh-CN" sz="1400" dirty="0">
                <a:solidFill>
                  <a:srgbClr val="FF0000"/>
                </a:solidFill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</a:rPr>
              <a:t>个不包含该突变的</a:t>
            </a:r>
            <a:r>
              <a:rPr lang="en-US" altLang="zh-CN" sz="1400" b="0" i="0" dirty="0" err="1">
                <a:solidFill>
                  <a:srgbClr val="FF0000"/>
                </a:solidFill>
                <a:effectLst/>
                <a:latin typeface="-apple-system"/>
              </a:rPr>
              <a:t>NEXome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 Plus Panel</a:t>
            </a:r>
            <a:r>
              <a:rPr lang="zh-CN" altLang="en-US" sz="1400" dirty="0">
                <a:solidFill>
                  <a:srgbClr val="FF0000"/>
                </a:solidFill>
              </a:rPr>
              <a:t>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0.22(20/90)</a:t>
            </a:r>
            <a:r>
              <a:rPr lang="zh-CN" altLang="en-US" sz="1400" dirty="0">
                <a:solidFill>
                  <a:srgbClr val="FF0000"/>
                </a:solidFill>
              </a:rPr>
              <a:t>，如果用户删除了</a:t>
            </a:r>
            <a:r>
              <a:rPr lang="en-US" altLang="zh-CN" sz="1400" dirty="0">
                <a:solidFill>
                  <a:srgbClr val="FF0000"/>
                </a:solidFill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</a:rPr>
              <a:t>个包含该突变的任务，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0.11(10/90)</a:t>
            </a:r>
            <a:r>
              <a:rPr lang="zh-CN" altLang="en-US" sz="1400" dirty="0">
                <a:solidFill>
                  <a:srgbClr val="FF0000"/>
                </a:solidFill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 My COHORT</a:t>
            </a:r>
            <a:r>
              <a:rPr lang="zh-CN" altLang="en-US" sz="1400" dirty="0">
                <a:solidFill>
                  <a:srgbClr val="FF0000"/>
                </a:solidFill>
              </a:rPr>
              <a:t>放在下面</a:t>
            </a:r>
            <a:r>
              <a:rPr lang="en-US" altLang="zh-CN" sz="1400" dirty="0">
                <a:solidFill>
                  <a:srgbClr val="FF0000"/>
                </a:solidFill>
              </a:rPr>
              <a:t>4</a:t>
            </a:r>
            <a:r>
              <a:rPr lang="zh-CN" altLang="en-US" sz="1400" dirty="0">
                <a:solidFill>
                  <a:srgbClr val="FF0000"/>
                </a:solidFill>
              </a:rPr>
              <a:t>个的最上面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402823A-3BCB-B2B0-E064-EABCBD588223}"/>
              </a:ext>
            </a:extLst>
          </p:cNvPr>
          <p:cNvCxnSpPr>
            <a:cxnSpLocks/>
          </p:cNvCxnSpPr>
          <p:nvPr/>
        </p:nvCxnSpPr>
        <p:spPr>
          <a:xfrm flipV="1">
            <a:off x="4234988" y="2284579"/>
            <a:ext cx="889462" cy="27469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77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DAEFFAD-B0DC-9F31-5CEE-FF0FAF25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20114"/>
            <a:ext cx="9677400" cy="634565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253C157-BFDC-E876-426B-7F8B8BFD03B7}"/>
              </a:ext>
            </a:extLst>
          </p:cNvPr>
          <p:cNvSpPr/>
          <p:nvPr/>
        </p:nvSpPr>
        <p:spPr>
          <a:xfrm>
            <a:off x="2976895" y="4549639"/>
            <a:ext cx="7233905" cy="1571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C9EC0E2-DA41-F516-337E-8172CD7AF0A0}"/>
              </a:ext>
            </a:extLst>
          </p:cNvPr>
          <p:cNvCxnSpPr>
            <a:cxnSpLocks/>
          </p:cNvCxnSpPr>
          <p:nvPr/>
        </p:nvCxnSpPr>
        <p:spPr>
          <a:xfrm flipV="1">
            <a:off x="9820275" y="4092439"/>
            <a:ext cx="508000" cy="4572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91A34E7-0E39-1512-1B49-0FCB08FCC432}"/>
              </a:ext>
            </a:extLst>
          </p:cNvPr>
          <p:cNvSpPr txBox="1"/>
          <p:nvPr/>
        </p:nvSpPr>
        <p:spPr>
          <a:xfrm>
            <a:off x="7226300" y="3723107"/>
            <a:ext cx="4572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C4043"/>
                </a:solidFill>
                <a:latin typeface="Roboto"/>
              </a:rPr>
              <a:t>这里改成展示上页</a:t>
            </a:r>
            <a:r>
              <a:rPr lang="en-US" altLang="zh-CN" b="1" dirty="0">
                <a:solidFill>
                  <a:srgbClr val="3C4043"/>
                </a:solidFill>
                <a:latin typeface="Roboto"/>
              </a:rPr>
              <a:t>PPT</a:t>
            </a:r>
            <a:r>
              <a:rPr lang="zh-CN" altLang="en-US" b="1" dirty="0">
                <a:solidFill>
                  <a:srgbClr val="3C4043"/>
                </a:solidFill>
                <a:latin typeface="Roboto"/>
              </a:rPr>
              <a:t>里所有人群频率信息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8313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7E5F06-ED71-F334-BB8D-296A13D00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29" t="933" r="729" b="51715"/>
          <a:stretch/>
        </p:blipFill>
        <p:spPr>
          <a:xfrm>
            <a:off x="3124200" y="2095500"/>
            <a:ext cx="4711700" cy="443179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931759-510D-112B-7C7F-4C493021CF19}"/>
              </a:ext>
            </a:extLst>
          </p:cNvPr>
          <p:cNvSpPr txBox="1"/>
          <p:nvPr/>
        </p:nvSpPr>
        <p:spPr>
          <a:xfrm>
            <a:off x="156150" y="63520"/>
            <a:ext cx="11823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第七列</a:t>
            </a:r>
            <a:r>
              <a:rPr lang="en-US" altLang="zh-CN" dirty="0"/>
              <a:t>Related HPOs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不按照图片格式来，展示表头</a:t>
            </a:r>
            <a:r>
              <a:rPr lang="en-US" altLang="zh-CN" dirty="0">
                <a:solidFill>
                  <a:srgbClr val="FF0000"/>
                </a:solidFill>
                <a:latin typeface="Roboto"/>
              </a:rPr>
              <a:t>HPO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，该列格式如下：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 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，用分号分割，竖列展示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E5D966-AE3D-572A-C365-50F85ACDEDFA}"/>
              </a:ext>
            </a:extLst>
          </p:cNvPr>
          <p:cNvSpPr/>
          <p:nvPr/>
        </p:nvSpPr>
        <p:spPr>
          <a:xfrm>
            <a:off x="4152900" y="2730500"/>
            <a:ext cx="1778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32B6B9-3235-60E7-5BD5-6E180D28C1B3}"/>
              </a:ext>
            </a:extLst>
          </p:cNvPr>
          <p:cNvSpPr txBox="1"/>
          <p:nvPr/>
        </p:nvSpPr>
        <p:spPr>
          <a:xfrm>
            <a:off x="6400800" y="2095500"/>
            <a:ext cx="4470400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HPAAA(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HPKKK(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67DB83D-4AB5-F036-B19B-65C8B1D7F30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5797550" y="2557165"/>
            <a:ext cx="603250" cy="62362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26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F8BF-2776-DA17-04C4-68780AB0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8AEB33-25B9-8BC4-E4A7-C2C81879B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2" b="58444"/>
          <a:stretch/>
        </p:blipFill>
        <p:spPr>
          <a:xfrm>
            <a:off x="1555750" y="2733764"/>
            <a:ext cx="4711700" cy="38138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5E2624-F4D9-3FE1-CBB1-8D23FD236241}"/>
              </a:ext>
            </a:extLst>
          </p:cNvPr>
          <p:cNvSpPr/>
          <p:nvPr/>
        </p:nvSpPr>
        <p:spPr>
          <a:xfrm>
            <a:off x="4489450" y="2971800"/>
            <a:ext cx="1778000" cy="162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83FD6-974A-7A17-8496-3442467FFC50}"/>
              </a:ext>
            </a:extLst>
          </p:cNvPr>
          <p:cNvSpPr txBox="1"/>
          <p:nvPr/>
        </p:nvSpPr>
        <p:spPr>
          <a:xfrm>
            <a:off x="6965950" y="3153370"/>
            <a:ext cx="263525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改成我们的雷达图</a:t>
            </a:r>
            <a:endParaRPr lang="en-US" altLang="zh-CN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A2B0830-2976-A7AB-2715-EB45DB36403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6267450" y="3338036"/>
            <a:ext cx="698500" cy="44656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70851F6-DFEF-ADAB-F11A-28559A994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50" y="3851990"/>
            <a:ext cx="3228975" cy="26955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66BC83-C21E-2C17-64CB-D409A170CE10}"/>
              </a:ext>
            </a:extLst>
          </p:cNvPr>
          <p:cNvSpPr txBox="1"/>
          <p:nvPr/>
        </p:nvSpPr>
        <p:spPr>
          <a:xfrm>
            <a:off x="156150" y="63520"/>
            <a:ext cx="11823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第八列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Software Prediction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默认展示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PingFang SC"/>
              </a:rPr>
              <a:t>Software_Prediction_result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，这列会是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NA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或者小于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的小数，读取该列后在这里弄一个进度条一样的显示该列信息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点击突变后，展示表头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SIFT_converted_rankscore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LRT_converted_rankscore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MutationTaster_converted_rankscore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MutationAssessor_rankscore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FATHMM_converted_rankscore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画的雷达图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282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64A6DB-8D79-0E19-BFCB-456D2D0F7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2" b="58444"/>
          <a:stretch/>
        </p:blipFill>
        <p:spPr>
          <a:xfrm>
            <a:off x="819770" y="1808213"/>
            <a:ext cx="4711700" cy="381380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CC9389-C956-291D-A918-4E431716C3A2}"/>
              </a:ext>
            </a:extLst>
          </p:cNvPr>
          <p:cNvSpPr txBox="1"/>
          <p:nvPr/>
        </p:nvSpPr>
        <p:spPr>
          <a:xfrm>
            <a:off x="526894" y="456530"/>
            <a:ext cx="8360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第九列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，还是把我们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放上去，读取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列放的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文件（绝对路径）</a:t>
            </a:r>
            <a:endParaRPr lang="en-US" altLang="zh-CN" b="0" i="0" dirty="0">
              <a:solidFill>
                <a:srgbClr val="2A2F45"/>
              </a:solidFill>
              <a:effectLst/>
              <a:latin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06A47D-9800-61D6-0898-8DBF851490D9}"/>
              </a:ext>
            </a:extLst>
          </p:cNvPr>
          <p:cNvSpPr/>
          <p:nvPr/>
        </p:nvSpPr>
        <p:spPr>
          <a:xfrm>
            <a:off x="5635085" y="2910469"/>
            <a:ext cx="102544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View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FD09E6-C2A0-D9E7-5185-2BB4D967127E}"/>
              </a:ext>
            </a:extLst>
          </p:cNvPr>
          <p:cNvSpPr/>
          <p:nvPr/>
        </p:nvSpPr>
        <p:spPr>
          <a:xfrm>
            <a:off x="5635084" y="2081562"/>
            <a:ext cx="127867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Bam IGV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67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7D639F-2146-C82F-EB34-C1AE06DFE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333124"/>
            <a:ext cx="11650579" cy="48695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CFF02F-FCFC-6B77-BBBE-FACB384FE217}"/>
              </a:ext>
            </a:extLst>
          </p:cNvPr>
          <p:cNvSpPr txBox="1"/>
          <p:nvPr/>
        </p:nvSpPr>
        <p:spPr>
          <a:xfrm>
            <a:off x="254357" y="266095"/>
            <a:ext cx="1084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接下来是左边筛选列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0B3311-9358-50D4-45FE-E1C0EA12FBDD}"/>
              </a:ext>
            </a:extLst>
          </p:cNvPr>
          <p:cNvSpPr/>
          <p:nvPr/>
        </p:nvSpPr>
        <p:spPr>
          <a:xfrm>
            <a:off x="254357" y="1203158"/>
            <a:ext cx="2549001" cy="51976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31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DE9149-8850-3A25-7264-FCBCB397E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7847" b="62311"/>
          <a:stretch/>
        </p:blipFill>
        <p:spPr>
          <a:xfrm>
            <a:off x="246648" y="121955"/>
            <a:ext cx="5976317" cy="42499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A052DDD-0F59-BEE7-AD1F-2D6C3EB627C8}"/>
              </a:ext>
            </a:extLst>
          </p:cNvPr>
          <p:cNvSpPr/>
          <p:nvPr/>
        </p:nvSpPr>
        <p:spPr>
          <a:xfrm>
            <a:off x="246647" y="673768"/>
            <a:ext cx="5095373" cy="11911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AF8234-DEB5-BB60-56B3-4D84F716CED5}"/>
              </a:ext>
            </a:extLst>
          </p:cNvPr>
          <p:cNvSpPr txBox="1"/>
          <p:nvPr/>
        </p:nvSpPr>
        <p:spPr>
          <a:xfrm>
            <a:off x="6329243" y="121955"/>
            <a:ext cx="58627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A:disease related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B:Other disease related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Other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IV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V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这个有疑问，需要讨论后定</a:t>
            </a:r>
            <a:endParaRPr lang="en-US" altLang="zh-CN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8C4FFE4-0685-1A14-92F5-48F63640D4F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342020" y="583620"/>
            <a:ext cx="987223" cy="53531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E473308-F04F-85A0-22B4-8E9903257D8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969042" y="1548064"/>
            <a:ext cx="1190441" cy="55399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85871-42C5-BEFC-FC8D-F2C7469074F9}"/>
              </a:ext>
            </a:extLst>
          </p:cNvPr>
          <p:cNvSpPr txBox="1"/>
          <p:nvPr/>
        </p:nvSpPr>
        <p:spPr>
          <a:xfrm>
            <a:off x="6159483" y="1363398"/>
            <a:ext cx="5722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客户没展示可能不重要吧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93648B6-BBCA-E34E-D651-4EAAD813322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695700" y="2351112"/>
            <a:ext cx="2400300" cy="34504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4F5200A-2846-110D-B666-FDC2539D2D8B}"/>
              </a:ext>
            </a:extLst>
          </p:cNvPr>
          <p:cNvSpPr txBox="1"/>
          <p:nvPr/>
        </p:nvSpPr>
        <p:spPr>
          <a:xfrm>
            <a:off x="6096000" y="1852008"/>
            <a:ext cx="597631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Search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Phenotype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这个有疑问，需要讨论后定</a:t>
            </a:r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表头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HPO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列信息，该列格式如下：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将该列按照分号分割后信息排序去重放这里，他们输入的自动匹配，支持多选吧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997391-E667-E2D4-8BA8-BCB5AF9105C2}"/>
              </a:ext>
            </a:extLst>
          </p:cNvPr>
          <p:cNvSpPr/>
          <p:nvPr/>
        </p:nvSpPr>
        <p:spPr>
          <a:xfrm>
            <a:off x="246647" y="2351111"/>
            <a:ext cx="3449053" cy="69008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019C05A-B1A9-3A17-ABD5-58DC22F23468}"/>
              </a:ext>
            </a:extLst>
          </p:cNvPr>
          <p:cNvCxnSpPr>
            <a:cxnSpLocks/>
          </p:cNvCxnSpPr>
          <p:nvPr/>
        </p:nvCxnSpPr>
        <p:spPr>
          <a:xfrm flipV="1">
            <a:off x="4905560" y="1706355"/>
            <a:ext cx="1253923" cy="1131252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1A3CBE1F-FBA4-B741-DC71-450B247EC7C3}"/>
              </a:ext>
            </a:extLst>
          </p:cNvPr>
          <p:cNvSpPr/>
          <p:nvPr/>
        </p:nvSpPr>
        <p:spPr>
          <a:xfrm>
            <a:off x="358942" y="3129939"/>
            <a:ext cx="4983078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DEC81E3-7FF2-B07A-976E-10285CE9720B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5342020" y="3323825"/>
            <a:ext cx="722239" cy="119635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C9C4963-A509-4718-BA72-BB7926BD9365}"/>
              </a:ext>
            </a:extLst>
          </p:cNvPr>
          <p:cNvSpPr txBox="1"/>
          <p:nvPr/>
        </p:nvSpPr>
        <p:spPr>
          <a:xfrm>
            <a:off x="6064259" y="3781519"/>
            <a:ext cx="597631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Search </a:t>
            </a:r>
            <a:r>
              <a:rPr lang="en-US" altLang="zh-CN" dirty="0"/>
              <a:t>Disease</a:t>
            </a:r>
          </a:p>
          <a:p>
            <a:r>
              <a:rPr lang="zh-CN" altLang="en-US" dirty="0"/>
              <a:t>表头</a:t>
            </a:r>
            <a:r>
              <a:rPr lang="en-US" altLang="zh-CN" dirty="0" err="1"/>
              <a:t>Gene_Related_Disease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将该列按照分号分割后，再按照“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|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</a:t>
            </a:r>
            <a:r>
              <a:rPr lang="en-US" altLang="zh-CN" dirty="0"/>
              <a:t>XXXXX</a:t>
            </a:r>
            <a:r>
              <a:rPr lang="zh-CN" altLang="en-US" dirty="0"/>
              <a:t>、</a:t>
            </a:r>
            <a:r>
              <a:rPr lang="en-US" altLang="zh-CN" dirty="0"/>
              <a:t> AAAAAA</a:t>
            </a:r>
            <a:r>
              <a:rPr lang="zh-CN" altLang="en-US" dirty="0"/>
              <a:t>、</a:t>
            </a:r>
            <a:r>
              <a:rPr lang="en-US" altLang="zh-CN" dirty="0"/>
              <a:t> KKKKKK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信息排序去重放这里，他们输入的自动匹配，支持多选吧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9EB595-534B-4FC9-E5B6-D9AF4AEABF22}"/>
              </a:ext>
            </a:extLst>
          </p:cNvPr>
          <p:cNvSpPr/>
          <p:nvPr/>
        </p:nvSpPr>
        <p:spPr>
          <a:xfrm>
            <a:off x="341924" y="3699174"/>
            <a:ext cx="4983078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88B498C-5BF1-1279-2815-06CC46EF6BF0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2833463" y="4194333"/>
            <a:ext cx="131149" cy="63927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B2E8715-E1CC-B2EF-19B1-6AFEA9FD4998}"/>
              </a:ext>
            </a:extLst>
          </p:cNvPr>
          <p:cNvSpPr txBox="1"/>
          <p:nvPr/>
        </p:nvSpPr>
        <p:spPr>
          <a:xfrm>
            <a:off x="246647" y="4833609"/>
            <a:ext cx="543593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Search </a:t>
            </a:r>
            <a:r>
              <a:rPr lang="en-US" altLang="zh-CN" dirty="0"/>
              <a:t>Disease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Inheritance Modes</a:t>
            </a:r>
            <a:endParaRPr lang="en-US" altLang="zh-CN" dirty="0"/>
          </a:p>
          <a:p>
            <a:r>
              <a:rPr lang="zh-CN" altLang="en-US" dirty="0"/>
              <a:t>表头</a:t>
            </a:r>
            <a:r>
              <a:rPr lang="en-US" altLang="zh-CN" dirty="0" err="1"/>
              <a:t>Gene_Related_Disease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将该列按照分号分割后，再按照“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|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”分割，取前部分，如果有像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AR/AD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这种的，按照“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/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</a:t>
            </a:r>
            <a:r>
              <a:rPr lang="en-US" altLang="zh-CN" dirty="0"/>
              <a:t>AR</a:t>
            </a:r>
            <a:r>
              <a:rPr lang="zh-CN" altLang="en-US" dirty="0"/>
              <a:t>、</a:t>
            </a:r>
            <a:r>
              <a:rPr lang="en-US" altLang="zh-CN" dirty="0"/>
              <a:t>AR</a:t>
            </a:r>
            <a:r>
              <a:rPr lang="zh-CN" altLang="en-US" dirty="0"/>
              <a:t>、</a:t>
            </a:r>
            <a:r>
              <a:rPr lang="en-US" altLang="zh-CN" dirty="0"/>
              <a:t>AD</a:t>
            </a:r>
            <a:r>
              <a:rPr lang="zh-CN" altLang="en-US" dirty="0"/>
              <a:t>、</a:t>
            </a:r>
            <a:r>
              <a:rPr lang="en-US" altLang="zh-CN" dirty="0"/>
              <a:t>AR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信息排序去重放这里，他们输入的自动匹配，支持多选吧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175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231FEA1-79F8-ABC9-6BF0-6CE487A41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966" r="77847" b="379"/>
          <a:stretch/>
        </p:blipFill>
        <p:spPr>
          <a:xfrm>
            <a:off x="0" y="214312"/>
            <a:ext cx="5196974" cy="62419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441642D-0746-458D-6CDD-A7895615F1D1}"/>
              </a:ext>
            </a:extLst>
          </p:cNvPr>
          <p:cNvSpPr/>
          <p:nvPr/>
        </p:nvSpPr>
        <p:spPr>
          <a:xfrm>
            <a:off x="41565" y="242022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EA51901-3BFD-EE2A-3450-17ED8CDAA5E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38255" y="489602"/>
            <a:ext cx="990517" cy="141441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498B8400-2AB7-6E27-EB6B-A868574748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51" t="24424" b="23771"/>
          <a:stretch/>
        </p:blipFill>
        <p:spPr>
          <a:xfrm>
            <a:off x="154483" y="2409797"/>
            <a:ext cx="6449517" cy="43413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7B89F3-2818-2D40-612A-02A3F411DED4}"/>
              </a:ext>
            </a:extLst>
          </p:cNvPr>
          <p:cNvSpPr txBox="1"/>
          <p:nvPr/>
        </p:nvSpPr>
        <p:spPr>
          <a:xfrm>
            <a:off x="5728772" y="57356"/>
            <a:ext cx="6359748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Geneset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点击那个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+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号，弹出一个对话框，让用户输入基因列表，然后点击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，将用户输入的基因和表格</a:t>
            </a:r>
            <a:r>
              <a:rPr lang="en-US" altLang="zh-CN" dirty="0" err="1"/>
              <a:t>Gene.refGene</a:t>
            </a:r>
            <a:r>
              <a:rPr lang="zh-CN" altLang="en-US" dirty="0"/>
              <a:t>列进行比较，突出显示一下不在</a:t>
            </a:r>
            <a:r>
              <a:rPr lang="en-US" altLang="zh-CN" dirty="0" err="1"/>
              <a:t>Gene.refGene</a:t>
            </a:r>
            <a:r>
              <a:rPr lang="zh-CN" altLang="en-US" dirty="0"/>
              <a:t>列的基因，如果用户能接受，点击</a:t>
            </a:r>
            <a:r>
              <a:rPr lang="en-US" altLang="zh-CN" dirty="0"/>
              <a:t>Confirm</a:t>
            </a:r>
            <a:r>
              <a:rPr lang="zh-CN" altLang="en-US" dirty="0"/>
              <a:t>后，将客户输入的基因展示在这里，如果用户不接受，那就随他自己重新输入，然后点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Check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一下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+</a:t>
            </a:r>
            <a:r>
              <a:rPr lang="zh-CN" altLang="en-US" dirty="0"/>
              <a:t>号旁边的菜单符号，展示用户当前所有基因</a:t>
            </a:r>
            <a:r>
              <a:rPr lang="en-US" altLang="zh-CN" dirty="0"/>
              <a:t>set</a:t>
            </a:r>
            <a:r>
              <a:rPr lang="zh-CN" altLang="en-US" dirty="0"/>
              <a:t>，供用户选择曾经保存的基因</a:t>
            </a:r>
            <a:r>
              <a:rPr lang="en-US" altLang="zh-CN"/>
              <a:t>set</a:t>
            </a:r>
            <a:r>
              <a:rPr lang="zh-CN" altLang="en-US"/>
              <a:t>（</a:t>
            </a:r>
            <a:r>
              <a:rPr lang="zh-CN" altLang="en-US" dirty="0"/>
              <a:t>需要在展示页面增加基因</a:t>
            </a:r>
            <a:r>
              <a:rPr lang="en-US" altLang="zh-CN" dirty="0"/>
              <a:t>set</a:t>
            </a:r>
            <a:r>
              <a:rPr lang="zh-CN" altLang="en-US" dirty="0"/>
              <a:t>删除功能）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右边展示用户输入的基因的行</a:t>
            </a:r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A64D49-B8B1-B180-FB2B-C5D6F46F705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63004" y="984761"/>
            <a:ext cx="5603235" cy="3112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ACC1F20-D556-3AF7-C6CE-90ECB474F56D}"/>
              </a:ext>
            </a:extLst>
          </p:cNvPr>
          <p:cNvSpPr txBox="1"/>
          <p:nvPr/>
        </p:nvSpPr>
        <p:spPr>
          <a:xfrm>
            <a:off x="5966239" y="377406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文字信息：</a:t>
            </a:r>
            <a:r>
              <a:rPr lang="en-US" altLang="zh-CN" dirty="0"/>
              <a:t>Exclude Selected </a:t>
            </a:r>
            <a:r>
              <a:rPr lang="en-US" altLang="zh-CN" dirty="0" err="1"/>
              <a:t>Genesets</a:t>
            </a:r>
            <a:endParaRPr lang="en-US" altLang="zh-CN" dirty="0"/>
          </a:p>
          <a:p>
            <a:r>
              <a:rPr lang="zh-CN" altLang="en-US" dirty="0"/>
              <a:t>如果勾选了这个，那就展示不在用户输入的基因的行</a:t>
            </a:r>
          </a:p>
        </p:txBody>
      </p:sp>
    </p:spTree>
    <p:extLst>
      <p:ext uri="{BB962C8B-B14F-4D97-AF65-F5344CB8AC3E}">
        <p14:creationId xmlns:p14="http://schemas.microsoft.com/office/powerpoint/2010/main" val="143633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0ECBB59-DFEF-A83A-3E5C-857327DC1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966" r="77847" b="379"/>
          <a:stretch/>
        </p:blipFill>
        <p:spPr>
          <a:xfrm>
            <a:off x="0" y="214312"/>
            <a:ext cx="5196974" cy="62419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840033A-B3D3-65A7-B673-9FB05FA85353}"/>
              </a:ext>
            </a:extLst>
          </p:cNvPr>
          <p:cNvSpPr/>
          <p:nvPr/>
        </p:nvSpPr>
        <p:spPr>
          <a:xfrm>
            <a:off x="0" y="1211518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E71586F-CCEE-27A4-0A46-8A8C85C6FE6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297013" y="380522"/>
            <a:ext cx="409277" cy="83099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4E1244F-2D5F-FD40-F561-88D969C8623B}"/>
              </a:ext>
            </a:extLst>
          </p:cNvPr>
          <p:cNvSpPr txBox="1"/>
          <p:nvPr/>
        </p:nvSpPr>
        <p:spPr>
          <a:xfrm>
            <a:off x="4706290" y="57356"/>
            <a:ext cx="725246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Gene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Gene.refGene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D2A33BF-D73B-B8B1-7402-FAACBAA8D57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783724" y="1120615"/>
            <a:ext cx="1083460" cy="877162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D36ACF1-C1CA-B881-4D4D-7F26623BBEBB}"/>
              </a:ext>
            </a:extLst>
          </p:cNvPr>
          <p:cNvSpPr txBox="1"/>
          <p:nvPr/>
        </p:nvSpPr>
        <p:spPr>
          <a:xfrm>
            <a:off x="4867184" y="797449"/>
            <a:ext cx="7450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effectLst/>
              </a:rPr>
              <a:t> Prioritization Tier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/>
              <a:t>Class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28C9097-DF82-8CCB-4C3F-F313A1911D0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071214" y="1904016"/>
            <a:ext cx="4703519" cy="60884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F0A6859-DC09-AA40-9D2B-073C82EB4180}"/>
              </a:ext>
            </a:extLst>
          </p:cNvPr>
          <p:cNvSpPr/>
          <p:nvPr/>
        </p:nvSpPr>
        <p:spPr>
          <a:xfrm>
            <a:off x="0" y="2263863"/>
            <a:ext cx="22143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A65A7B-E2FD-A312-6906-642D92C5BC3F}"/>
              </a:ext>
            </a:extLst>
          </p:cNvPr>
          <p:cNvSpPr txBox="1"/>
          <p:nvPr/>
        </p:nvSpPr>
        <p:spPr>
          <a:xfrm>
            <a:off x="6774733" y="1442351"/>
            <a:ext cx="603083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ACMG Pathogenicity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（不知道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指的是什么）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ACMG_result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0F062FC-BFAB-6864-6F92-7D48FC66795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297013" y="2558254"/>
            <a:ext cx="2477720" cy="41719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F7ACED0-6E39-E999-293F-6A1AA0CA0C8D}"/>
              </a:ext>
            </a:extLst>
          </p:cNvPr>
          <p:cNvSpPr/>
          <p:nvPr/>
        </p:nvSpPr>
        <p:spPr>
          <a:xfrm>
            <a:off x="2300689" y="2263863"/>
            <a:ext cx="22143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826D56-5ABD-468F-F218-14AB2745EAB0}"/>
              </a:ext>
            </a:extLst>
          </p:cNvPr>
          <p:cNvSpPr txBox="1"/>
          <p:nvPr/>
        </p:nvSpPr>
        <p:spPr>
          <a:xfrm>
            <a:off x="6774733" y="2513783"/>
            <a:ext cx="450529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Clinvar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Clinvar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E1166D-5436-EAD8-5D4E-A5BF62C59E6A}"/>
              </a:ext>
            </a:extLst>
          </p:cNvPr>
          <p:cNvSpPr/>
          <p:nvPr/>
        </p:nvSpPr>
        <p:spPr>
          <a:xfrm>
            <a:off x="4706289" y="2284111"/>
            <a:ext cx="1612135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Roboto"/>
              </a:rPr>
              <a:t>User’s Pathogenicity </a:t>
            </a:r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59D77D3-AE5B-B12C-E197-8CE86E14038D}"/>
              </a:ext>
            </a:extLst>
          </p:cNvPr>
          <p:cNvCxnSpPr>
            <a:cxnSpLocks/>
          </p:cNvCxnSpPr>
          <p:nvPr/>
        </p:nvCxnSpPr>
        <p:spPr>
          <a:xfrm>
            <a:off x="5340150" y="2798178"/>
            <a:ext cx="1652649" cy="130670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696F591-5C6B-3A6A-FC23-28ABA62652BD}"/>
              </a:ext>
            </a:extLst>
          </p:cNvPr>
          <p:cNvSpPr txBox="1"/>
          <p:nvPr/>
        </p:nvSpPr>
        <p:spPr>
          <a:xfrm>
            <a:off x="6917909" y="3721508"/>
            <a:ext cx="450529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加一个，文字信息：</a:t>
            </a:r>
            <a:r>
              <a:rPr lang="en-US" altLang="zh-CN" dirty="0">
                <a:solidFill>
                  <a:schemeClr val="tx1"/>
                </a:solidFill>
                <a:latin typeface="Roboto"/>
              </a:rPr>
              <a:t> User’s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</a:t>
            </a:r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里，用户修改的致病性信息，</a:t>
            </a:r>
            <a:r>
              <a:rPr lang="zh-CN" altLang="en-US" dirty="0"/>
              <a:t>根据用户输入匹配，支持多选吧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251FBF0-87B3-C485-2C09-8FF16AA6991D}"/>
              </a:ext>
            </a:extLst>
          </p:cNvPr>
          <p:cNvCxnSpPr>
            <a:cxnSpLocks/>
          </p:cNvCxnSpPr>
          <p:nvPr/>
        </p:nvCxnSpPr>
        <p:spPr>
          <a:xfrm>
            <a:off x="1466894" y="3218655"/>
            <a:ext cx="79493" cy="130805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D70A2EE-1063-800B-D9D8-27EB71C6E4CE}"/>
              </a:ext>
            </a:extLst>
          </p:cNvPr>
          <p:cNvSpPr txBox="1"/>
          <p:nvPr/>
        </p:nvSpPr>
        <p:spPr>
          <a:xfrm>
            <a:off x="220577" y="4507978"/>
            <a:ext cx="429450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Population Allele Frequency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让用户选第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9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页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PPT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下方所有的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31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个人群频率里挑一个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BB68C2-5337-A06A-C658-060DF3DB99B6}"/>
              </a:ext>
            </a:extLst>
          </p:cNvPr>
          <p:cNvSpPr/>
          <p:nvPr/>
        </p:nvSpPr>
        <p:spPr>
          <a:xfrm>
            <a:off x="86299" y="2759022"/>
            <a:ext cx="2971854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BD8B52A-683A-4C33-FFC2-9A31251FB656}"/>
              </a:ext>
            </a:extLst>
          </p:cNvPr>
          <p:cNvSpPr/>
          <p:nvPr/>
        </p:nvSpPr>
        <p:spPr>
          <a:xfrm>
            <a:off x="3124146" y="2834993"/>
            <a:ext cx="1511766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BE784D7-08ED-EFF6-F5CF-6F72F90096C0}"/>
              </a:ext>
            </a:extLst>
          </p:cNvPr>
          <p:cNvCxnSpPr>
            <a:cxnSpLocks/>
          </p:cNvCxnSpPr>
          <p:nvPr/>
        </p:nvCxnSpPr>
        <p:spPr>
          <a:xfrm>
            <a:off x="3993838" y="3311419"/>
            <a:ext cx="2780895" cy="176768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C467487-C48D-4BA1-E686-370BB256DEB1}"/>
              </a:ext>
            </a:extLst>
          </p:cNvPr>
          <p:cNvSpPr txBox="1"/>
          <p:nvPr/>
        </p:nvSpPr>
        <p:spPr>
          <a:xfrm>
            <a:off x="5196505" y="5094553"/>
            <a:ext cx="5866031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Frequency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根据挑选的那个人群频率对应信息，和这列输入的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小数展示右边信息，因为人群频率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r>
              <a:rPr lang="zh-CN" altLang="en-US" dirty="0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980319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394AD61-D2CF-59EA-C9E7-07E5C10D2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0857" r="77847" b="379"/>
          <a:stretch/>
        </p:blipFill>
        <p:spPr>
          <a:xfrm>
            <a:off x="282765" y="1377050"/>
            <a:ext cx="5196974" cy="38011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62C126E-D659-E486-5DA8-42FB8D2F99F4}"/>
              </a:ext>
            </a:extLst>
          </p:cNvPr>
          <p:cNvSpPr/>
          <p:nvPr/>
        </p:nvSpPr>
        <p:spPr>
          <a:xfrm>
            <a:off x="392934" y="2063813"/>
            <a:ext cx="2096877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C0D690B-3342-DE40-C5C8-4ED9A9478CF0}"/>
              </a:ext>
            </a:extLst>
          </p:cNvPr>
          <p:cNvCxnSpPr>
            <a:cxnSpLocks/>
          </p:cNvCxnSpPr>
          <p:nvPr/>
        </p:nvCxnSpPr>
        <p:spPr>
          <a:xfrm flipV="1">
            <a:off x="2093205" y="521510"/>
            <a:ext cx="3863465" cy="154230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C44F32D-FBC9-82B7-5C46-B4FDF7B7C1E1}"/>
              </a:ext>
            </a:extLst>
          </p:cNvPr>
          <p:cNvSpPr txBox="1"/>
          <p:nvPr/>
        </p:nvSpPr>
        <p:spPr>
          <a:xfrm>
            <a:off x="5956670" y="313233"/>
            <a:ext cx="595256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Genotype</a:t>
            </a:r>
          </a:p>
          <a:p>
            <a:r>
              <a:rPr lang="zh-CN" altLang="en-US" dirty="0"/>
              <a:t>表格</a:t>
            </a:r>
            <a:r>
              <a:rPr lang="en-US" altLang="zh-CN" dirty="0"/>
              <a:t>Genotype</a:t>
            </a:r>
            <a:r>
              <a:rPr lang="zh-CN" altLang="en-US" dirty="0"/>
              <a:t>列排序去重，展示在这里让客户选，单选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C48D90B-D4B3-C457-FD8F-6FCE56177253}"/>
              </a:ext>
            </a:extLst>
          </p:cNvPr>
          <p:cNvCxnSpPr>
            <a:cxnSpLocks/>
          </p:cNvCxnSpPr>
          <p:nvPr/>
        </p:nvCxnSpPr>
        <p:spPr>
          <a:xfrm flipV="1">
            <a:off x="4421543" y="1292661"/>
            <a:ext cx="1455150" cy="923831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DC56A59-0AB6-A1B7-E3AE-190CAEA1E9C8}"/>
              </a:ext>
            </a:extLst>
          </p:cNvPr>
          <p:cNvSpPr txBox="1"/>
          <p:nvPr/>
        </p:nvSpPr>
        <p:spPr>
          <a:xfrm>
            <a:off x="5876692" y="1053884"/>
            <a:ext cx="63153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 Quality</a:t>
            </a:r>
          </a:p>
          <a:p>
            <a:r>
              <a:rPr lang="zh-CN" altLang="en-US" dirty="0"/>
              <a:t>表格</a:t>
            </a:r>
            <a:r>
              <a:rPr lang="en-US" altLang="zh-CN" dirty="0" err="1"/>
              <a:t>Depth_Quality</a:t>
            </a:r>
            <a:r>
              <a:rPr lang="zh-CN" altLang="en-US" dirty="0"/>
              <a:t>列排序去重，展示在这里让客户选，单选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D6C2AD-B4A3-9182-96F5-41AFBA77340E}"/>
              </a:ext>
            </a:extLst>
          </p:cNvPr>
          <p:cNvSpPr/>
          <p:nvPr/>
        </p:nvSpPr>
        <p:spPr>
          <a:xfrm>
            <a:off x="2532900" y="2053301"/>
            <a:ext cx="2096877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33B197-C632-9DCC-6640-EB4B6EAAAE5F}"/>
              </a:ext>
            </a:extLst>
          </p:cNvPr>
          <p:cNvSpPr/>
          <p:nvPr/>
        </p:nvSpPr>
        <p:spPr>
          <a:xfrm>
            <a:off x="2533520" y="2587385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CAFC45-0041-09A9-C2CC-2FDB7EBAB5B6}"/>
              </a:ext>
            </a:extLst>
          </p:cNvPr>
          <p:cNvSpPr txBox="1"/>
          <p:nvPr/>
        </p:nvSpPr>
        <p:spPr>
          <a:xfrm>
            <a:off x="5876691" y="1909423"/>
            <a:ext cx="63153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 Quality</a:t>
            </a:r>
          </a:p>
          <a:p>
            <a:r>
              <a:rPr lang="zh-CN" altLang="en-US" dirty="0"/>
              <a:t>表格</a:t>
            </a:r>
            <a:r>
              <a:rPr lang="en-US" altLang="zh-CN" dirty="0" err="1"/>
              <a:t>Depth_Quality</a:t>
            </a:r>
            <a:r>
              <a:rPr lang="zh-CN" altLang="en-US" dirty="0"/>
              <a:t>列排序去重，展示在这里让客户选，单选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8A88CD-A450-0B10-D333-E623133ED48A}"/>
              </a:ext>
            </a:extLst>
          </p:cNvPr>
          <p:cNvCxnSpPr>
            <a:cxnSpLocks/>
          </p:cNvCxnSpPr>
          <p:nvPr/>
        </p:nvCxnSpPr>
        <p:spPr>
          <a:xfrm>
            <a:off x="4629777" y="2903024"/>
            <a:ext cx="795284" cy="52597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3802397-CA8C-7F7E-8CFD-7C3B6F12E4E6}"/>
              </a:ext>
            </a:extLst>
          </p:cNvPr>
          <p:cNvSpPr txBox="1"/>
          <p:nvPr/>
        </p:nvSpPr>
        <p:spPr>
          <a:xfrm>
            <a:off x="5425061" y="3117283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Genotype Quality Filter</a:t>
            </a: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Genotype_Quality</a:t>
            </a:r>
            <a:r>
              <a:rPr lang="zh-CN" altLang="en-US" dirty="0"/>
              <a:t>数值过滤，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数字展示右边信息，注意这列还有“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”的可能，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89C570D-6E53-A7BC-CA9D-9BA274830E5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319454" y="2903024"/>
            <a:ext cx="65831" cy="246214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6D96713-9BC2-7C86-D4F9-17F46B41FEDB}"/>
              </a:ext>
            </a:extLst>
          </p:cNvPr>
          <p:cNvSpPr txBox="1"/>
          <p:nvPr/>
        </p:nvSpPr>
        <p:spPr>
          <a:xfrm>
            <a:off x="400368" y="5365168"/>
            <a:ext cx="3969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个不用管，这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列只有数字和“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”，后面都有数字筛选，它这两个筛什么东西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18A368-4768-E627-A0D5-F0DF2234CA14}"/>
              </a:ext>
            </a:extLst>
          </p:cNvPr>
          <p:cNvCxnSpPr>
            <a:cxnSpLocks/>
          </p:cNvCxnSpPr>
          <p:nvPr/>
        </p:nvCxnSpPr>
        <p:spPr>
          <a:xfrm flipH="1">
            <a:off x="1683834" y="3471818"/>
            <a:ext cx="85493" cy="189335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3AFF41CC-22DF-DA78-ADC5-65B2E5FB2279}"/>
              </a:ext>
            </a:extLst>
          </p:cNvPr>
          <p:cNvSpPr/>
          <p:nvPr/>
        </p:nvSpPr>
        <p:spPr>
          <a:xfrm>
            <a:off x="2532900" y="3147967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528337F-C7A3-7C16-B309-1DC6161B4F6B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629157" y="3463606"/>
            <a:ext cx="795284" cy="156857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ABF1AB9-2632-8707-7347-F166BE970713}"/>
              </a:ext>
            </a:extLst>
          </p:cNvPr>
          <p:cNvSpPr txBox="1"/>
          <p:nvPr/>
        </p:nvSpPr>
        <p:spPr>
          <a:xfrm>
            <a:off x="5424441" y="4570511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Variant Quality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Filter</a:t>
            </a: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Variant_Quality</a:t>
            </a:r>
            <a:r>
              <a:rPr lang="zh-CN" altLang="en-US" dirty="0"/>
              <a:t>数值过滤，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数字展示右边信息，注意这列还有“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”的可能，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700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EDD4729-A59D-9A29-4AC3-AC3ACD19A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0857" r="77847" b="379"/>
          <a:stretch/>
        </p:blipFill>
        <p:spPr>
          <a:xfrm>
            <a:off x="182404" y="284231"/>
            <a:ext cx="5196974" cy="38011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BF22F7-7321-7327-A0AB-5B118DE10B38}"/>
              </a:ext>
            </a:extLst>
          </p:cNvPr>
          <p:cNvSpPr/>
          <p:nvPr/>
        </p:nvSpPr>
        <p:spPr>
          <a:xfrm>
            <a:off x="313807" y="2579255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0DC7CA6-EB63-4564-2602-65D070C9A6AC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271239" y="1624588"/>
            <a:ext cx="3840968" cy="96542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9D0B8AB-DCCA-E28C-CD24-473C77BA253A}"/>
              </a:ext>
            </a:extLst>
          </p:cNvPr>
          <p:cNvSpPr txBox="1"/>
          <p:nvPr/>
        </p:nvSpPr>
        <p:spPr>
          <a:xfrm>
            <a:off x="5112207" y="1024423"/>
            <a:ext cx="631530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Min Allele Fraction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数值过滤，展示大于这个数值的，</a:t>
            </a:r>
            <a:r>
              <a:rPr lang="en-US" altLang="zh-CN" dirty="0"/>
              <a:t>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18A0BF3-B9B2-C870-2388-6CF569375A86}"/>
              </a:ext>
            </a:extLst>
          </p:cNvPr>
          <p:cNvCxnSpPr>
            <a:cxnSpLocks/>
          </p:cNvCxnSpPr>
          <p:nvPr/>
        </p:nvCxnSpPr>
        <p:spPr>
          <a:xfrm flipV="1">
            <a:off x="4465759" y="2683112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48A2AC8-390A-BDDD-F265-D42928A7DF4C}"/>
              </a:ext>
            </a:extLst>
          </p:cNvPr>
          <p:cNvSpPr/>
          <p:nvPr/>
        </p:nvSpPr>
        <p:spPr>
          <a:xfrm>
            <a:off x="2501222" y="2590012"/>
            <a:ext cx="2003872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9BEF15-8E68-FAED-585C-C3292F673017}"/>
              </a:ext>
            </a:extLst>
          </p:cNvPr>
          <p:cNvSpPr txBox="1"/>
          <p:nvPr/>
        </p:nvSpPr>
        <p:spPr>
          <a:xfrm>
            <a:off x="5510781" y="2364779"/>
            <a:ext cx="631530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Max Allele Fraction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数值过滤，展示小于这个数值的，</a:t>
            </a:r>
            <a:r>
              <a:rPr lang="en-US" altLang="zh-CN" dirty="0"/>
              <a:t>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3E4FCE-F63C-EEBF-9623-BDB7A52D529D}"/>
              </a:ext>
            </a:extLst>
          </p:cNvPr>
          <p:cNvCxnSpPr>
            <a:cxnSpLocks/>
          </p:cNvCxnSpPr>
          <p:nvPr/>
        </p:nvCxnSpPr>
        <p:spPr>
          <a:xfrm>
            <a:off x="4042931" y="3604806"/>
            <a:ext cx="1467850" cy="130155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433099F-9DB0-5A0E-122C-625DF04F50AF}"/>
              </a:ext>
            </a:extLst>
          </p:cNvPr>
          <p:cNvSpPr/>
          <p:nvPr/>
        </p:nvSpPr>
        <p:spPr>
          <a:xfrm>
            <a:off x="2484541" y="3095373"/>
            <a:ext cx="2003872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DCB203-C14D-5F3C-1A3F-51328915A9A6}"/>
              </a:ext>
            </a:extLst>
          </p:cNvPr>
          <p:cNvSpPr txBox="1"/>
          <p:nvPr/>
        </p:nvSpPr>
        <p:spPr>
          <a:xfrm>
            <a:off x="5526228" y="4274998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Depth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 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FEDFDD-F1F2-D168-07E0-D5BA8BC5C3DB}"/>
              </a:ext>
            </a:extLst>
          </p:cNvPr>
          <p:cNvSpPr txBox="1"/>
          <p:nvPr/>
        </p:nvSpPr>
        <p:spPr>
          <a:xfrm>
            <a:off x="5642184" y="3627078"/>
            <a:ext cx="3969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这列不用管，这列只有数字，后面都有数字筛选，它这筛什么东西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0CF1A1A-5797-52A2-ECA1-2026D3EE1C92}"/>
              </a:ext>
            </a:extLst>
          </p:cNvPr>
          <p:cNvCxnSpPr>
            <a:cxnSpLocks/>
          </p:cNvCxnSpPr>
          <p:nvPr/>
        </p:nvCxnSpPr>
        <p:spPr>
          <a:xfrm>
            <a:off x="1661532" y="3337697"/>
            <a:ext cx="3980652" cy="51571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778AD7C-FFB3-5A6B-7FEE-DEC8991E1C15}"/>
              </a:ext>
            </a:extLst>
          </p:cNvPr>
          <p:cNvSpPr/>
          <p:nvPr/>
        </p:nvSpPr>
        <p:spPr>
          <a:xfrm>
            <a:off x="166245" y="3611091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5C5326A-13AE-4203-0AC7-F50029F774B4}"/>
              </a:ext>
            </a:extLst>
          </p:cNvPr>
          <p:cNvCxnSpPr>
            <a:cxnSpLocks/>
          </p:cNvCxnSpPr>
          <p:nvPr/>
        </p:nvCxnSpPr>
        <p:spPr>
          <a:xfrm>
            <a:off x="1107231" y="4028300"/>
            <a:ext cx="107452" cy="117002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3FA473E-FA06-63DC-4AA3-AE1687E8E0F2}"/>
              </a:ext>
            </a:extLst>
          </p:cNvPr>
          <p:cNvSpPr txBox="1"/>
          <p:nvPr/>
        </p:nvSpPr>
        <p:spPr>
          <a:xfrm>
            <a:off x="0" y="5233412"/>
            <a:ext cx="269798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Chromosome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/>
              <a:t>Chr</a:t>
            </a:r>
            <a:r>
              <a:rPr lang="zh-CN" altLang="en-US" dirty="0"/>
              <a:t>列排序去重，展示在这里让客户选，单选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1A1815-799A-0A33-D7CE-07E5B5E1DB6E}"/>
              </a:ext>
            </a:extLst>
          </p:cNvPr>
          <p:cNvSpPr/>
          <p:nvPr/>
        </p:nvSpPr>
        <p:spPr>
          <a:xfrm>
            <a:off x="2445526" y="3640280"/>
            <a:ext cx="935653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D7C9FEC-BFE7-7E12-5C05-707A911C1731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2913353" y="4124928"/>
            <a:ext cx="580611" cy="110258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82D1E3C-834D-C970-BCAA-6151529C6CF0}"/>
              </a:ext>
            </a:extLst>
          </p:cNvPr>
          <p:cNvSpPr txBox="1"/>
          <p:nvPr/>
        </p:nvSpPr>
        <p:spPr>
          <a:xfrm>
            <a:off x="2812800" y="5240345"/>
            <a:ext cx="407865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让用户填数字，然后根据用户填写的</a:t>
            </a:r>
            <a:r>
              <a:rPr lang="en-US" altLang="zh-CN" dirty="0"/>
              <a:t>Chromosome</a:t>
            </a:r>
            <a:r>
              <a:rPr lang="zh-CN" altLang="en-US" dirty="0"/>
              <a:t>、</a:t>
            </a:r>
            <a:r>
              <a:rPr lang="en-US" altLang="zh-CN" dirty="0"/>
              <a:t>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，在表格的</a:t>
            </a:r>
            <a:r>
              <a:rPr lang="en-US" altLang="zh-CN" dirty="0"/>
              <a:t>Chr</a:t>
            </a:r>
            <a:r>
              <a:rPr lang="zh-CN" altLang="en-US" dirty="0"/>
              <a:t>、</a:t>
            </a:r>
            <a:r>
              <a:rPr lang="en-US" altLang="zh-CN" dirty="0"/>
              <a:t> Start</a:t>
            </a:r>
            <a:r>
              <a:rPr lang="zh-CN" altLang="en-US" dirty="0"/>
              <a:t>、</a:t>
            </a:r>
            <a:r>
              <a:rPr lang="en-US" altLang="zh-CN" dirty="0"/>
              <a:t>End</a:t>
            </a:r>
            <a:r>
              <a:rPr lang="zh-CN" altLang="en-US" dirty="0"/>
              <a:t>列比较，右边展示在用户输入区域内的信息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AF7E99-EB59-4D93-419B-3C86E8A41CAA}"/>
              </a:ext>
            </a:extLst>
          </p:cNvPr>
          <p:cNvSpPr/>
          <p:nvPr/>
        </p:nvSpPr>
        <p:spPr>
          <a:xfrm>
            <a:off x="3443701" y="3625686"/>
            <a:ext cx="935653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F0377B5-3B81-1CEF-09B1-93C59698BDAE}"/>
              </a:ext>
            </a:extLst>
          </p:cNvPr>
          <p:cNvCxnSpPr>
            <a:cxnSpLocks/>
          </p:cNvCxnSpPr>
          <p:nvPr/>
        </p:nvCxnSpPr>
        <p:spPr>
          <a:xfrm flipH="1">
            <a:off x="3823213" y="4060561"/>
            <a:ext cx="204271" cy="11377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43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A6A238-CBC9-C0E2-AE4E-54ABBCFC0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333124"/>
            <a:ext cx="11650579" cy="48695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08FCFFF-3639-4DBE-359B-750790CFD0B6}"/>
              </a:ext>
            </a:extLst>
          </p:cNvPr>
          <p:cNvSpPr txBox="1"/>
          <p:nvPr/>
        </p:nvSpPr>
        <p:spPr>
          <a:xfrm>
            <a:off x="270710" y="174744"/>
            <a:ext cx="11510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最后点击确定按钮进行过滤</a:t>
            </a:r>
            <a:endParaRPr lang="en-US" altLang="zh-CN" dirty="0"/>
          </a:p>
          <a:p>
            <a:r>
              <a:rPr lang="zh-CN" altLang="en-US" dirty="0"/>
              <a:t>还有个很大问题，过滤页面有滑动条，下面的我们看不见，暂时就这样，客户不愿意再截图了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161C22-7411-2569-C8C5-011229CEF0A2}"/>
              </a:ext>
            </a:extLst>
          </p:cNvPr>
          <p:cNvSpPr/>
          <p:nvPr/>
        </p:nvSpPr>
        <p:spPr>
          <a:xfrm>
            <a:off x="2463396" y="342900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BE3BB57-3FA1-5A1D-EB24-2E2DACD7D8EE}"/>
              </a:ext>
            </a:extLst>
          </p:cNvPr>
          <p:cNvCxnSpPr>
            <a:cxnSpLocks/>
          </p:cNvCxnSpPr>
          <p:nvPr/>
        </p:nvCxnSpPr>
        <p:spPr>
          <a:xfrm flipV="1">
            <a:off x="3066585" y="3359766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401F67D-5700-543D-5446-E1E6EB833C3D}"/>
              </a:ext>
            </a:extLst>
          </p:cNvPr>
          <p:cNvSpPr txBox="1"/>
          <p:nvPr/>
        </p:nvSpPr>
        <p:spPr>
          <a:xfrm>
            <a:off x="4070742" y="3128901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确定按钮大概上这个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4DDA60-70DA-ABC9-63D0-54CF45C2787D}"/>
              </a:ext>
            </a:extLst>
          </p:cNvPr>
          <p:cNvSpPr/>
          <p:nvPr/>
        </p:nvSpPr>
        <p:spPr>
          <a:xfrm>
            <a:off x="2463395" y="391642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0548630-4F6F-E68F-D9A0-68220131144B}"/>
              </a:ext>
            </a:extLst>
          </p:cNvPr>
          <p:cNvCxnSpPr>
            <a:cxnSpLocks/>
          </p:cNvCxnSpPr>
          <p:nvPr/>
        </p:nvCxnSpPr>
        <p:spPr>
          <a:xfrm>
            <a:off x="3066584" y="4158744"/>
            <a:ext cx="1004158" cy="2308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4439832-1F54-493D-AFF1-911D5E64364A}"/>
              </a:ext>
            </a:extLst>
          </p:cNvPr>
          <p:cNvSpPr txBox="1"/>
          <p:nvPr/>
        </p:nvSpPr>
        <p:spPr>
          <a:xfrm>
            <a:off x="4070742" y="4158744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这是啥？清除按钮？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FD076-3C39-9408-72FC-3CCAA02CDF14}"/>
              </a:ext>
            </a:extLst>
          </p:cNvPr>
          <p:cNvSpPr/>
          <p:nvPr/>
        </p:nvSpPr>
        <p:spPr>
          <a:xfrm>
            <a:off x="2463395" y="1758888"/>
            <a:ext cx="458226" cy="27063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7B2399-3D84-9A79-56DC-1BB3DED9E70C}"/>
              </a:ext>
            </a:extLst>
          </p:cNvPr>
          <p:cNvSpPr txBox="1"/>
          <p:nvPr/>
        </p:nvSpPr>
        <p:spPr>
          <a:xfrm>
            <a:off x="3843340" y="1951659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这个下载按钮是下载过滤后的数据信息的吗？待定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1B6A39-2406-FA87-DF79-BBA1BCDD28DB}"/>
              </a:ext>
            </a:extLst>
          </p:cNvPr>
          <p:cNvCxnSpPr>
            <a:cxnSpLocks/>
          </p:cNvCxnSpPr>
          <p:nvPr/>
        </p:nvCxnSpPr>
        <p:spPr>
          <a:xfrm>
            <a:off x="2921621" y="1940200"/>
            <a:ext cx="1004157" cy="18132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E938CDC-A612-E6EC-2A4C-0B9062002486}"/>
              </a:ext>
            </a:extLst>
          </p:cNvPr>
          <p:cNvSpPr/>
          <p:nvPr/>
        </p:nvSpPr>
        <p:spPr>
          <a:xfrm>
            <a:off x="2463395" y="1300164"/>
            <a:ext cx="458226" cy="45595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7A840BE-266A-D539-6E9A-103D8DF7504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921621" y="1295857"/>
            <a:ext cx="921719" cy="23228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C6023F1-A8C0-AB91-A50B-52393DE1BA23}"/>
              </a:ext>
            </a:extLst>
          </p:cNvPr>
          <p:cNvSpPr txBox="1"/>
          <p:nvPr/>
        </p:nvSpPr>
        <p:spPr>
          <a:xfrm>
            <a:off x="3925778" y="1067406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这俩是啥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701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CCEA86-A6D9-B96B-F6C6-F755AFCC9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8944"/>
            <a:ext cx="12192000" cy="51911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5B68219-C170-3630-BB7A-F628ACCADB90}"/>
              </a:ext>
            </a:extLst>
          </p:cNvPr>
          <p:cNvSpPr txBox="1"/>
          <p:nvPr/>
        </p:nvSpPr>
        <p:spPr>
          <a:xfrm>
            <a:off x="254357" y="118615"/>
            <a:ext cx="11510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show</a:t>
            </a:r>
            <a:r>
              <a:rPr lang="en-US" altLang="zh-CN" dirty="0"/>
              <a:t>CNVWES</a:t>
            </a:r>
            <a:r>
              <a:rPr lang="zh-CN" altLang="en-US" dirty="0"/>
              <a:t>标签页的构建参考下页截图、</a:t>
            </a:r>
            <a:endParaRPr lang="en-US" altLang="zh-CN" dirty="0"/>
          </a:p>
          <a:p>
            <a:r>
              <a:rPr lang="zh-CN" altLang="en-US" dirty="0"/>
              <a:t>读取文件 </a:t>
            </a:r>
            <a:r>
              <a:rPr lang="en-US" altLang="zh-CN" dirty="0"/>
              <a:t>result/CNV_WES/</a:t>
            </a:r>
            <a:r>
              <a:rPr lang="zh-CN" altLang="en-US" dirty="0"/>
              <a:t>数据</a:t>
            </a:r>
            <a:r>
              <a:rPr lang="en-US" altLang="zh-CN" dirty="0"/>
              <a:t>ID.CNV_WES.txt</a:t>
            </a:r>
            <a:r>
              <a:rPr lang="zh-CN" altLang="en-US" dirty="0"/>
              <a:t>，表头唯一，后面按照表头定位，不按列数了，防止列数变动</a:t>
            </a:r>
            <a:endParaRPr lang="en-US" altLang="zh-CN" dirty="0"/>
          </a:p>
          <a:p>
            <a:r>
              <a:rPr lang="zh-CN" altLang="en-US" dirty="0"/>
              <a:t>先说右边展示列</a:t>
            </a:r>
          </a:p>
        </p:txBody>
      </p:sp>
    </p:spTree>
    <p:extLst>
      <p:ext uri="{BB962C8B-B14F-4D97-AF65-F5344CB8AC3E}">
        <p14:creationId xmlns:p14="http://schemas.microsoft.com/office/powerpoint/2010/main" val="4013304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D2D22F-896F-A6F1-3B2C-497135AC1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226368" y="3172748"/>
            <a:ext cx="9739264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BA75088-F7BB-1A92-4E80-64E1075D4E48}"/>
              </a:ext>
            </a:extLst>
          </p:cNvPr>
          <p:cNvSpPr txBox="1"/>
          <p:nvPr/>
        </p:nvSpPr>
        <p:spPr>
          <a:xfrm>
            <a:off x="254357" y="118615"/>
            <a:ext cx="11510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第一列</a:t>
            </a:r>
            <a:r>
              <a:rPr lang="en-US" altLang="zh-CN" dirty="0"/>
              <a:t>Gene Info</a:t>
            </a:r>
          </a:p>
          <a:p>
            <a:r>
              <a:rPr lang="zh-CN" altLang="en-US" dirty="0"/>
              <a:t>截图里明显看出他们给的是一个很长很长很长区域的拷贝数，第一个是一个</a:t>
            </a:r>
            <a:r>
              <a:rPr lang="en-US" altLang="zh-CN" dirty="0"/>
              <a:t>12M</a:t>
            </a:r>
            <a:r>
              <a:rPr lang="zh-CN" altLang="en-US" dirty="0"/>
              <a:t>的包含</a:t>
            </a:r>
            <a:r>
              <a:rPr lang="en-US" altLang="zh-CN" dirty="0"/>
              <a:t>170</a:t>
            </a:r>
            <a:r>
              <a:rPr lang="zh-CN" altLang="en-US" dirty="0"/>
              <a:t>个基因的缺失</a:t>
            </a:r>
            <a:endParaRPr lang="en-US" altLang="zh-CN" dirty="0"/>
          </a:p>
          <a:p>
            <a:r>
              <a:rPr lang="zh-CN" altLang="en-US" dirty="0"/>
              <a:t>我们按照单个基因放？</a:t>
            </a:r>
            <a:r>
              <a:rPr lang="en-US" altLang="zh-CN" dirty="0"/>
              <a:t>2025.03.30 </a:t>
            </a:r>
            <a:r>
              <a:rPr lang="zh-CN" altLang="en-US" dirty="0"/>
              <a:t>我们也放长片段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A1F5B3-714A-5866-CC50-7171EB53D974}"/>
              </a:ext>
            </a:extLst>
          </p:cNvPr>
          <p:cNvSpPr/>
          <p:nvPr/>
        </p:nvSpPr>
        <p:spPr>
          <a:xfrm>
            <a:off x="1733633" y="3819400"/>
            <a:ext cx="2003502" cy="1300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72A8D-A993-CC95-4DE3-1473D38419A7}"/>
              </a:ext>
            </a:extLst>
          </p:cNvPr>
          <p:cNvSpPr/>
          <p:nvPr/>
        </p:nvSpPr>
        <p:spPr>
          <a:xfrm>
            <a:off x="1756803" y="5181437"/>
            <a:ext cx="1733529" cy="6323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DFC8F7-F6FC-A041-8B85-8918E91A8FE8}"/>
              </a:ext>
            </a:extLst>
          </p:cNvPr>
          <p:cNvSpPr/>
          <p:nvPr/>
        </p:nvSpPr>
        <p:spPr>
          <a:xfrm>
            <a:off x="1833003" y="3903605"/>
            <a:ext cx="685800" cy="45652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998D0-E3CC-E243-2590-F95C22E337CD}"/>
              </a:ext>
            </a:extLst>
          </p:cNvPr>
          <p:cNvSpPr txBox="1"/>
          <p:nvPr/>
        </p:nvSpPr>
        <p:spPr>
          <a:xfrm>
            <a:off x="2006600" y="6237453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Gene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51FBB9A-C1EB-69D9-3C3C-A787C308646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344854" y="5615766"/>
            <a:ext cx="42746" cy="55977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2718C6B-C3D5-DE84-DE26-7BFE951BF826}"/>
              </a:ext>
            </a:extLst>
          </p:cNvPr>
          <p:cNvSpPr/>
          <p:nvPr/>
        </p:nvSpPr>
        <p:spPr>
          <a:xfrm>
            <a:off x="2082800" y="5194590"/>
            <a:ext cx="609600" cy="42117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26950C-9FA4-232E-08D5-BDA0B7AA28AE}"/>
              </a:ext>
            </a:extLst>
          </p:cNvPr>
          <p:cNvSpPr txBox="1"/>
          <p:nvPr/>
        </p:nvSpPr>
        <p:spPr>
          <a:xfrm>
            <a:off x="1733633" y="3109309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Gene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C7EFB98-FFBF-8016-9397-73D4155CF619}"/>
              </a:ext>
            </a:extLst>
          </p:cNvPr>
          <p:cNvCxnSpPr>
            <a:cxnSpLocks/>
          </p:cNvCxnSpPr>
          <p:nvPr/>
        </p:nvCxnSpPr>
        <p:spPr>
          <a:xfrm flipV="1">
            <a:off x="2082800" y="3506150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6496E0C-825A-41F0-7305-DE0218895D7A}"/>
              </a:ext>
            </a:extLst>
          </p:cNvPr>
          <p:cNvSpPr txBox="1"/>
          <p:nvPr/>
        </p:nvSpPr>
        <p:spPr>
          <a:xfrm>
            <a:off x="254357" y="1175459"/>
            <a:ext cx="111644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默认展示黑框内容，读取文件中表头</a:t>
            </a:r>
            <a:r>
              <a:rPr lang="en-US" altLang="zh-CN" dirty="0"/>
              <a:t>Gene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CNV_Cover_Type</a:t>
            </a:r>
            <a:r>
              <a:rPr lang="zh-CN" altLang="en-US" dirty="0"/>
              <a:t>，</a:t>
            </a:r>
            <a:r>
              <a:rPr lang="en-US" altLang="zh-CN" dirty="0"/>
              <a:t>Gene</a:t>
            </a:r>
            <a:r>
              <a:rPr lang="zh-CN" altLang="en-US" dirty="0"/>
              <a:t>列格式 </a:t>
            </a:r>
            <a:r>
              <a:rPr lang="en-US" altLang="zh-CN" dirty="0"/>
              <a:t>G1;G2;G3</a:t>
            </a:r>
            <a:r>
              <a:rPr lang="zh-CN" altLang="en-US" dirty="0"/>
              <a:t>，按照分号分割并行展示，只展示前</a:t>
            </a:r>
            <a:r>
              <a:rPr lang="en-US" altLang="zh-CN" dirty="0"/>
              <a:t>2</a:t>
            </a:r>
            <a:r>
              <a:rPr lang="zh-CN" altLang="en-US" dirty="0"/>
              <a:t>个基因，多余基因用</a:t>
            </a:r>
            <a:r>
              <a:rPr lang="en-US" altLang="zh-CN" dirty="0"/>
              <a:t>+XX More</a:t>
            </a:r>
            <a:r>
              <a:rPr lang="zh-CN" altLang="en-US" dirty="0"/>
              <a:t>形式显示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/>
              <a:t>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 Chr</a:t>
            </a:r>
            <a:r>
              <a:rPr lang="zh-CN" altLang="en-US" dirty="0"/>
              <a:t>、</a:t>
            </a:r>
            <a:r>
              <a:rPr lang="en-US" altLang="zh-CN" dirty="0"/>
              <a:t> Start</a:t>
            </a:r>
            <a:r>
              <a:rPr lang="zh-CN" altLang="en-US" dirty="0"/>
              <a:t>、</a:t>
            </a:r>
            <a:r>
              <a:rPr lang="en-US" altLang="zh-CN" dirty="0"/>
              <a:t>End</a:t>
            </a:r>
            <a:r>
              <a:rPr lang="zh-CN" altLang="en-US" dirty="0"/>
              <a:t>、</a:t>
            </a:r>
            <a:r>
              <a:rPr lang="en-US" altLang="zh-CN" dirty="0" err="1"/>
              <a:t>Chromosomal_Region</a:t>
            </a:r>
            <a:r>
              <a:rPr lang="zh-CN" altLang="en-US" dirty="0"/>
              <a:t>、</a:t>
            </a:r>
            <a:r>
              <a:rPr lang="en-US" altLang="zh-CN" dirty="0" err="1"/>
              <a:t>CNV_Length</a:t>
            </a:r>
            <a:r>
              <a:rPr lang="zh-CN" altLang="en-US" dirty="0"/>
              <a:t>， </a:t>
            </a:r>
            <a:r>
              <a:rPr lang="en-US" altLang="zh-CN" dirty="0"/>
              <a:t>Gene</a:t>
            </a:r>
            <a:r>
              <a:rPr lang="zh-CN" altLang="en-US" dirty="0"/>
              <a:t>列格式 </a:t>
            </a:r>
            <a:r>
              <a:rPr lang="en-US" altLang="zh-CN" dirty="0"/>
              <a:t>G1;G2;G3</a:t>
            </a:r>
            <a:r>
              <a:rPr lang="zh-CN" altLang="en-US" dirty="0"/>
              <a:t>，按照分号分割并行展示，只展示前</a:t>
            </a:r>
            <a:r>
              <a:rPr lang="en-US" altLang="zh-CN" dirty="0"/>
              <a:t>2</a:t>
            </a:r>
            <a:r>
              <a:rPr lang="zh-CN" altLang="en-US" dirty="0"/>
              <a:t>个基因，多余基因用</a:t>
            </a:r>
            <a:r>
              <a:rPr lang="en-US" altLang="zh-CN" dirty="0"/>
              <a:t>+XX More</a:t>
            </a:r>
            <a:r>
              <a:rPr lang="zh-CN" altLang="en-US" dirty="0"/>
              <a:t>形式显示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3446B1-A14A-6AB1-C42C-15A42CF608F6}"/>
              </a:ext>
            </a:extLst>
          </p:cNvPr>
          <p:cNvSpPr/>
          <p:nvPr/>
        </p:nvSpPr>
        <p:spPr>
          <a:xfrm>
            <a:off x="2713597" y="5432774"/>
            <a:ext cx="609600" cy="26950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1EA767A-94E8-F3C1-B8FF-4F5054F2875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323197" y="5567525"/>
            <a:ext cx="487689" cy="77398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95FC8D3-3730-0B8E-84A6-9A1FBB30E8EA}"/>
              </a:ext>
            </a:extLst>
          </p:cNvPr>
          <p:cNvSpPr txBox="1"/>
          <p:nvPr/>
        </p:nvSpPr>
        <p:spPr>
          <a:xfrm>
            <a:off x="3548832" y="6306189"/>
            <a:ext cx="631068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，直接展示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57B3AA-8B99-0902-B910-0B7C9C81D16D}"/>
              </a:ext>
            </a:extLst>
          </p:cNvPr>
          <p:cNvSpPr/>
          <p:nvPr/>
        </p:nvSpPr>
        <p:spPr>
          <a:xfrm>
            <a:off x="1833003" y="4550257"/>
            <a:ext cx="609600" cy="1804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63F77B-8FF2-0567-7A89-05499F212C41}"/>
              </a:ext>
            </a:extLst>
          </p:cNvPr>
          <p:cNvSpPr/>
          <p:nvPr/>
        </p:nvSpPr>
        <p:spPr>
          <a:xfrm>
            <a:off x="1833003" y="4702656"/>
            <a:ext cx="1814352" cy="2126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02DF496-AB81-9625-CACF-458BC47E2674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2442603" y="2488462"/>
            <a:ext cx="1435184" cy="2152008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EE497C7-F228-BADB-7BA3-5101D28B0BC2}"/>
              </a:ext>
            </a:extLst>
          </p:cNvPr>
          <p:cNvSpPr txBox="1"/>
          <p:nvPr/>
        </p:nvSpPr>
        <p:spPr>
          <a:xfrm>
            <a:off x="3877787" y="2303796"/>
            <a:ext cx="701810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CNV_Cover_Type</a:t>
            </a:r>
            <a:r>
              <a:rPr lang="zh-CN" altLang="en-US" dirty="0"/>
              <a:t>，直接展示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528E3F-CE6E-507A-8426-91722E293591}"/>
              </a:ext>
            </a:extLst>
          </p:cNvPr>
          <p:cNvSpPr txBox="1"/>
          <p:nvPr/>
        </p:nvSpPr>
        <p:spPr>
          <a:xfrm>
            <a:off x="4139332" y="2924643"/>
            <a:ext cx="631068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Chr:Start-End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列组合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3373D2-B6E3-7DC2-F96F-2CB36B1B376C}"/>
              </a:ext>
            </a:extLst>
          </p:cNvPr>
          <p:cNvSpPr txBox="1"/>
          <p:nvPr/>
        </p:nvSpPr>
        <p:spPr>
          <a:xfrm>
            <a:off x="4432378" y="4627910"/>
            <a:ext cx="7601880" cy="147732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CNV_Length</a:t>
            </a:r>
            <a:r>
              <a:rPr lang="zh-CN" altLang="en-US" dirty="0"/>
              <a:t>，这一列会放数值，比如数值是</a:t>
            </a:r>
            <a:r>
              <a:rPr lang="en-US" altLang="zh-CN" dirty="0"/>
              <a:t>A</a:t>
            </a:r>
            <a:r>
              <a:rPr lang="zh-CN" altLang="en-US" dirty="0"/>
              <a:t>，如果</a:t>
            </a:r>
            <a:r>
              <a:rPr lang="en-US" altLang="zh-CN" dirty="0"/>
              <a:t>A/1000</a:t>
            </a:r>
            <a:r>
              <a:rPr lang="zh-CN" altLang="en-US" dirty="0"/>
              <a:t> </a:t>
            </a:r>
            <a:r>
              <a:rPr lang="en-US" altLang="zh-CN" dirty="0"/>
              <a:t>&lt;1</a:t>
            </a:r>
            <a:r>
              <a:rPr lang="zh-CN" altLang="en-US" dirty="0"/>
              <a:t>，括号里就放</a:t>
            </a:r>
            <a:r>
              <a:rPr lang="en-US" altLang="zh-CN" dirty="0"/>
              <a:t>A bp</a:t>
            </a:r>
            <a:r>
              <a:rPr lang="zh-CN" altLang="en-US" dirty="0"/>
              <a:t>，如果</a:t>
            </a:r>
            <a:r>
              <a:rPr lang="en-US" altLang="zh-CN" dirty="0"/>
              <a:t>A/1000&gt;=1 </a:t>
            </a:r>
            <a:r>
              <a:rPr lang="zh-CN" altLang="en-US" dirty="0"/>
              <a:t>且</a:t>
            </a:r>
            <a:r>
              <a:rPr lang="en-US" altLang="zh-CN" dirty="0"/>
              <a:t>A/1000000&lt;1</a:t>
            </a:r>
            <a:r>
              <a:rPr lang="zh-CN" altLang="en-US" dirty="0"/>
              <a:t>，括号里放 </a:t>
            </a:r>
            <a:r>
              <a:rPr lang="en-US" altLang="zh-CN" dirty="0"/>
              <a:t>A/1000</a:t>
            </a:r>
            <a:r>
              <a:rPr lang="zh-CN" altLang="en-US" dirty="0"/>
              <a:t>取</a:t>
            </a:r>
            <a:r>
              <a:rPr lang="en-US" altLang="zh-CN" dirty="0"/>
              <a:t>2</a:t>
            </a:r>
            <a:r>
              <a:rPr lang="zh-CN" altLang="en-US" dirty="0"/>
              <a:t>位小数点，单位</a:t>
            </a:r>
            <a:r>
              <a:rPr lang="en-US" altLang="zh-CN" dirty="0" err="1"/>
              <a:t>Kbp</a:t>
            </a:r>
            <a:r>
              <a:rPr lang="zh-CN" altLang="en-US" dirty="0"/>
              <a:t>，如果</a:t>
            </a:r>
            <a:r>
              <a:rPr lang="en-US" altLang="zh-CN" dirty="0"/>
              <a:t>A /1000000&gt;=1</a:t>
            </a:r>
            <a:r>
              <a:rPr lang="zh-CN" altLang="en-US" dirty="0"/>
              <a:t> ，括号里放 </a:t>
            </a:r>
            <a:r>
              <a:rPr lang="en-US" altLang="zh-CN" dirty="0"/>
              <a:t>A /1000000</a:t>
            </a:r>
            <a:r>
              <a:rPr lang="zh-CN" altLang="en-US" dirty="0"/>
              <a:t>取</a:t>
            </a:r>
            <a:r>
              <a:rPr lang="en-US" altLang="zh-CN" dirty="0"/>
              <a:t>2</a:t>
            </a:r>
            <a:r>
              <a:rPr lang="zh-CN" altLang="en-US" dirty="0"/>
              <a:t>位小数点，单位</a:t>
            </a:r>
            <a:r>
              <a:rPr lang="en-US" altLang="zh-CN" dirty="0" err="1"/>
              <a:t>Mbp</a:t>
            </a:r>
            <a:r>
              <a:rPr lang="zh-CN" altLang="en-US" dirty="0"/>
              <a:t>，因为左边过滤有长度过滤，表格内部做了计算的话，外包那边不好处理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D72EFB-54E5-8AD2-51BD-B7C97DC26EAC}"/>
              </a:ext>
            </a:extLst>
          </p:cNvPr>
          <p:cNvSpPr/>
          <p:nvPr/>
        </p:nvSpPr>
        <p:spPr>
          <a:xfrm>
            <a:off x="2387600" y="4928012"/>
            <a:ext cx="935596" cy="17842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19AC4B2-082E-D4C2-9EC9-D7CE9D5B1673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204603" y="3109309"/>
            <a:ext cx="934729" cy="161391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ED9EE14-C199-F906-DD98-C9AF4E3B736E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3323196" y="5017225"/>
            <a:ext cx="1109182" cy="34934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99BC002D-2991-BBAC-9DC4-DA70257E244B}"/>
              </a:ext>
            </a:extLst>
          </p:cNvPr>
          <p:cNvSpPr txBox="1"/>
          <p:nvPr/>
        </p:nvSpPr>
        <p:spPr>
          <a:xfrm>
            <a:off x="4654949" y="3980614"/>
            <a:ext cx="668605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中间加一个，放</a:t>
            </a:r>
            <a:r>
              <a:rPr lang="en-US" altLang="zh-CN" dirty="0" err="1"/>
              <a:t>Chromosomal_Region</a:t>
            </a:r>
            <a:r>
              <a:rPr lang="zh-CN" altLang="en-US" dirty="0"/>
              <a:t>，格式：</a:t>
            </a:r>
            <a:r>
              <a:rPr lang="en-US" altLang="zh-CN" dirty="0"/>
              <a:t>q.22.1, q.22.2</a:t>
            </a:r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FAFE4AD-A9B8-0154-EF7B-EACB5A99F338}"/>
              </a:ext>
            </a:extLst>
          </p:cNvPr>
          <p:cNvCxnSpPr>
            <a:cxnSpLocks/>
          </p:cNvCxnSpPr>
          <p:nvPr/>
        </p:nvCxnSpPr>
        <p:spPr>
          <a:xfrm flipV="1">
            <a:off x="3384649" y="4139328"/>
            <a:ext cx="1270300" cy="811697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260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6DA0621-C151-E9E8-0A2F-CCB3844A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438242" y="2381011"/>
            <a:ext cx="9739264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5EC5A09-4198-4946-3468-6153029F3843}"/>
              </a:ext>
            </a:extLst>
          </p:cNvPr>
          <p:cNvSpPr txBox="1"/>
          <p:nvPr/>
        </p:nvSpPr>
        <p:spPr>
          <a:xfrm>
            <a:off x="254357" y="118615"/>
            <a:ext cx="11510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第二列</a:t>
            </a:r>
            <a:r>
              <a:rPr lang="en-US" altLang="zh-CN" dirty="0"/>
              <a:t>Copy Number</a:t>
            </a:r>
          </a:p>
          <a:p>
            <a:endParaRPr lang="en-US" altLang="zh-CN" dirty="0"/>
          </a:p>
          <a:p>
            <a:r>
              <a:rPr lang="zh-CN" altLang="en-US" dirty="0"/>
              <a:t>读取文件中表头</a:t>
            </a:r>
            <a:r>
              <a:rPr lang="en-US" altLang="zh-CN" dirty="0" err="1"/>
              <a:t>Copy_Number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CNV_Type</a:t>
            </a:r>
            <a:r>
              <a:rPr lang="zh-CN" altLang="en-US" dirty="0"/>
              <a:t>，按照</a:t>
            </a:r>
            <a:r>
              <a:rPr lang="en-US" altLang="zh-CN" dirty="0" err="1"/>
              <a:t>Copy_Number</a:t>
            </a:r>
            <a:r>
              <a:rPr lang="en-US" altLang="zh-CN" dirty="0"/>
              <a:t> | </a:t>
            </a:r>
            <a:r>
              <a:rPr lang="en-US" altLang="zh-CN" dirty="0" err="1"/>
              <a:t>CNV_Type</a:t>
            </a:r>
            <a:r>
              <a:rPr lang="zh-CN" altLang="en-US" dirty="0"/>
              <a:t>放，</a:t>
            </a:r>
            <a:r>
              <a:rPr lang="en-US" altLang="zh-CN" dirty="0"/>
              <a:t> </a:t>
            </a:r>
            <a:r>
              <a:rPr lang="en-US" altLang="zh-CN" dirty="0" err="1"/>
              <a:t>CNV_Type</a:t>
            </a:r>
            <a:r>
              <a:rPr lang="zh-CN" altLang="en-US" dirty="0"/>
              <a:t>是</a:t>
            </a:r>
            <a:r>
              <a:rPr lang="en-US" altLang="zh-CN" dirty="0"/>
              <a:t>DEL</a:t>
            </a:r>
            <a:r>
              <a:rPr lang="zh-CN" altLang="en-US" dirty="0"/>
              <a:t>的时候显示红色，是</a:t>
            </a:r>
            <a:r>
              <a:rPr lang="en-US" altLang="zh-CN" dirty="0"/>
              <a:t>DUP</a:t>
            </a:r>
            <a:r>
              <a:rPr lang="zh-CN" altLang="en-US" dirty="0"/>
              <a:t>的时候显示绿色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CA9A17-AB7E-36EB-C51B-DA01A11C1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1" t="14203" r="50996" b="58448"/>
          <a:stretch/>
        </p:blipFill>
        <p:spPr>
          <a:xfrm>
            <a:off x="6009447" y="4190761"/>
            <a:ext cx="4933950" cy="22481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334CC4B-8787-0CBB-E4A7-76A5F53A41C7}"/>
              </a:ext>
            </a:extLst>
          </p:cNvPr>
          <p:cNvSpPr/>
          <p:nvPr/>
        </p:nvSpPr>
        <p:spPr>
          <a:xfrm>
            <a:off x="4095155" y="2661020"/>
            <a:ext cx="1212826" cy="1300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BD66BD-CD01-7458-7A9F-8D8BCFAF56B3}"/>
              </a:ext>
            </a:extLst>
          </p:cNvPr>
          <p:cNvSpPr/>
          <p:nvPr/>
        </p:nvSpPr>
        <p:spPr>
          <a:xfrm>
            <a:off x="8206238" y="5537084"/>
            <a:ext cx="1212826" cy="427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078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899C-EFE7-667D-CB6C-75B91823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7CB941-E1C6-C401-E7C3-F405DE262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438242" y="2381011"/>
            <a:ext cx="9739264" cy="31560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83648D-D1F9-9478-BE35-C758C2BB1C2D}"/>
              </a:ext>
            </a:extLst>
          </p:cNvPr>
          <p:cNvSpPr txBox="1"/>
          <p:nvPr/>
        </p:nvSpPr>
        <p:spPr>
          <a:xfrm>
            <a:off x="254357" y="118615"/>
            <a:ext cx="115101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第三列</a:t>
            </a:r>
            <a:r>
              <a:rPr lang="en-US" altLang="zh-CN" dirty="0"/>
              <a:t>Gene Related Diseases</a:t>
            </a:r>
            <a:r>
              <a:rPr lang="zh-CN" altLang="en-US" dirty="0"/>
              <a:t>（这列看不到信息，不知道是个啥，讨论后再定）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暂时放这个</a:t>
            </a:r>
            <a:endParaRPr lang="en-US" altLang="zh-CN" dirty="0"/>
          </a:p>
          <a:p>
            <a:r>
              <a:rPr lang="zh-CN" altLang="en-US" dirty="0"/>
              <a:t>读取文件中表头</a:t>
            </a:r>
            <a:r>
              <a:rPr lang="en-US" altLang="zh-CN" dirty="0" err="1">
                <a:solidFill>
                  <a:srgbClr val="FF0000"/>
                </a:solidFill>
              </a:rPr>
              <a:t>Gene_Related_Diseases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，以分号分割并排展示</a:t>
            </a:r>
            <a:endParaRPr lang="en-US" altLang="zh-CN" dirty="0"/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6B2F3E-F175-6A16-B854-2A9A7BACB8DE}"/>
              </a:ext>
            </a:extLst>
          </p:cNvPr>
          <p:cNvSpPr/>
          <p:nvPr/>
        </p:nvSpPr>
        <p:spPr>
          <a:xfrm>
            <a:off x="5569653" y="3233854"/>
            <a:ext cx="1344103" cy="10381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723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2CF1-4376-FAC7-7511-B067109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F03990-812F-8AFA-A121-2A4AF6399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1" t="585" r="31367" b="67194"/>
          <a:stretch/>
        </p:blipFill>
        <p:spPr>
          <a:xfrm>
            <a:off x="212508" y="2630566"/>
            <a:ext cx="6559340" cy="31560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9118C3B-71DD-B1BC-F4D4-E5E387B0E87E}"/>
              </a:ext>
            </a:extLst>
          </p:cNvPr>
          <p:cNvSpPr txBox="1"/>
          <p:nvPr/>
        </p:nvSpPr>
        <p:spPr>
          <a:xfrm>
            <a:off x="156150" y="63520"/>
            <a:ext cx="118233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Occurrence</a:t>
            </a:r>
            <a:r>
              <a:rPr lang="zh-CN" altLang="en-US" dirty="0"/>
              <a:t>列我们暂时做不了，略过</a:t>
            </a:r>
            <a:endParaRPr lang="en-US" altLang="zh-CN" dirty="0"/>
          </a:p>
          <a:p>
            <a:r>
              <a:rPr lang="zh-CN" altLang="en-US" dirty="0"/>
              <a:t>第四列</a:t>
            </a:r>
            <a:r>
              <a:rPr lang="en-US" altLang="zh-CN" b="0" i="0" dirty="0"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effectLst/>
                <a:latin typeface="DeepSeek-CJK-patch"/>
              </a:rPr>
              <a:t>，</a:t>
            </a:r>
            <a:r>
              <a:rPr lang="zh-CN" altLang="en-US" dirty="0">
                <a:latin typeface="DeepSeek-CJK-patch"/>
              </a:rPr>
              <a:t>这列和突变那列基本一样</a:t>
            </a:r>
            <a:endParaRPr lang="en-US" altLang="zh-CN" dirty="0">
              <a:latin typeface="DeepSeek-CJK-patch"/>
            </a:endParaRPr>
          </a:p>
          <a:p>
            <a:r>
              <a:rPr lang="zh-CN" altLang="en-US" dirty="0">
                <a:latin typeface="DeepSeek-CJK-patch"/>
              </a:rPr>
              <a:t>新用户打开时这列信息显示</a:t>
            </a:r>
            <a:r>
              <a:rPr lang="en-US" altLang="zh-CN" dirty="0">
                <a:latin typeface="DeepSeek-CJK-patch"/>
              </a:rPr>
              <a:t>NA</a:t>
            </a:r>
            <a:r>
              <a:rPr lang="zh-CN" altLang="en-US" dirty="0">
                <a:latin typeface="DeepSeek-CJK-patch"/>
              </a:rPr>
              <a:t>，用户点击</a:t>
            </a:r>
            <a:r>
              <a:rPr lang="en-US" altLang="zh-CN" dirty="0">
                <a:latin typeface="DeepSeek-CJK-patch"/>
              </a:rPr>
              <a:t>NA</a:t>
            </a:r>
            <a:r>
              <a:rPr lang="zh-CN" altLang="en-US" dirty="0">
                <a:latin typeface="DeepSeek-CJK-patch"/>
              </a:rPr>
              <a:t>，弹出</a:t>
            </a:r>
            <a:r>
              <a:rPr lang="en-US" altLang="zh-CN" dirty="0">
                <a:latin typeface="DeepSeek-CJK-patch"/>
              </a:rPr>
              <a:t>7</a:t>
            </a:r>
            <a:r>
              <a:rPr lang="zh-CN" altLang="en-US" dirty="0">
                <a:latin typeface="DeepSeek-CJK-patch"/>
              </a:rPr>
              <a:t>个圈让他们选：</a:t>
            </a:r>
            <a:r>
              <a:rPr lang="en-US" altLang="zh-CN" dirty="0">
                <a:latin typeface="DeepSeek-CJK-patch"/>
              </a:rPr>
              <a:t> Pathogenic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Likely pathogenic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VUS++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VUS+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 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Likely benign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Benign</a:t>
            </a:r>
            <a:r>
              <a:rPr lang="zh-CN" altLang="en-US" dirty="0">
                <a:latin typeface="DeepSeek-CJK-patch"/>
              </a:rPr>
              <a:t>，</a:t>
            </a:r>
            <a:r>
              <a:rPr lang="en-US" altLang="zh-CN" dirty="0">
                <a:latin typeface="DeepSeek-CJK-patch"/>
              </a:rPr>
              <a:t>7</a:t>
            </a:r>
            <a:r>
              <a:rPr lang="zh-CN" altLang="en-US" dirty="0">
                <a:latin typeface="DeepSeek-CJK-patch"/>
              </a:rPr>
              <a:t>个圈支持多选（暂定支持多选吧），然后点击确认，在这列展示刚刚客户点击的信息，如果客户之前对一个突变判断的是</a:t>
            </a:r>
            <a:r>
              <a:rPr lang="en-US" altLang="zh-CN" dirty="0">
                <a:latin typeface="DeepSeek-CJK-patch"/>
              </a:rPr>
              <a:t> Pathogenic </a:t>
            </a:r>
            <a:r>
              <a:rPr lang="zh-CN" altLang="en-US" dirty="0">
                <a:latin typeface="DeepSeek-CJK-patch"/>
              </a:rPr>
              <a:t>，如红框（图片里的他们简写成了</a:t>
            </a:r>
            <a:r>
              <a:rPr lang="en-US" altLang="zh-CN" dirty="0">
                <a:latin typeface="DeepSeek-CJK-patch"/>
              </a:rPr>
              <a:t>P</a:t>
            </a:r>
            <a:r>
              <a:rPr lang="zh-CN" altLang="en-US" dirty="0">
                <a:latin typeface="DeepSeek-CJK-patch"/>
              </a:rPr>
              <a:t>，我们不需要简写，旁边的小人图标我们不需要，不用管），现在有证据证明这个突变是良性的，用户点击之前填写的</a:t>
            </a:r>
            <a:r>
              <a:rPr lang="en-US" altLang="zh-CN" b="0" i="0" dirty="0"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effectLst/>
                <a:latin typeface="DeepSeek-CJK-patch"/>
              </a:rPr>
              <a:t>的</a:t>
            </a:r>
            <a:r>
              <a:rPr lang="en-US" altLang="zh-CN" dirty="0">
                <a:latin typeface="DeepSeek-CJK-patch"/>
              </a:rPr>
              <a:t>P</a:t>
            </a:r>
            <a:r>
              <a:rPr lang="zh-CN" altLang="en-US" dirty="0">
                <a:latin typeface="DeepSeek-CJK-patch"/>
              </a:rPr>
              <a:t>，弹出对话框，然后他修改成</a:t>
            </a:r>
            <a:r>
              <a:rPr lang="en-US" altLang="zh-CN" dirty="0">
                <a:latin typeface="DeepSeek-CJK-patch"/>
              </a:rPr>
              <a:t>Benign</a:t>
            </a:r>
          </a:p>
          <a:p>
            <a:r>
              <a:rPr lang="zh-CN" altLang="en-US" dirty="0">
                <a:latin typeface="DeepSeek-CJK-patch"/>
              </a:rPr>
              <a:t>然后根据客户的修改，将</a:t>
            </a:r>
            <a:r>
              <a:rPr lang="en-US" altLang="zh-CN" dirty="0">
                <a:latin typeface="DeepSeek-CJK-patch"/>
              </a:rPr>
              <a:t>Gene</a:t>
            </a:r>
            <a:r>
              <a:rPr lang="zh-CN" altLang="en-US" dirty="0">
                <a:latin typeface="DeepSeek-CJK-patch"/>
              </a:rPr>
              <a:t>列</a:t>
            </a:r>
            <a:r>
              <a:rPr lang="en-US" altLang="zh-CN" dirty="0">
                <a:latin typeface="DeepSeek-CJK-patch"/>
              </a:rPr>
              <a:t>+</a:t>
            </a:r>
            <a:r>
              <a:rPr lang="en-US" altLang="zh-CN" dirty="0"/>
              <a:t> </a:t>
            </a:r>
            <a:r>
              <a:rPr lang="en-US" altLang="zh-CN" dirty="0" err="1"/>
              <a:t>Chr:Start-End</a:t>
            </a:r>
            <a:r>
              <a:rPr lang="en-US" altLang="zh-CN" dirty="0"/>
              <a:t> + </a:t>
            </a:r>
            <a:r>
              <a:rPr lang="en-US" altLang="zh-CN" dirty="0" err="1"/>
              <a:t>CNV_Type</a:t>
            </a:r>
            <a:r>
              <a:rPr lang="zh-CN" altLang="en-US" dirty="0"/>
              <a:t>列</a:t>
            </a:r>
            <a:r>
              <a:rPr lang="zh-CN" altLang="en-US" dirty="0">
                <a:latin typeface="DeepSeek-CJK-patch"/>
              </a:rPr>
              <a:t>和用户填写的信息，按照用户为单位存储，并将信息同步到这个用户所有任务的</a:t>
            </a:r>
            <a:r>
              <a:rPr lang="zh-CN" altLang="en-US" dirty="0"/>
              <a:t>show</a:t>
            </a:r>
            <a:r>
              <a:rPr lang="en-US" altLang="zh-CN" dirty="0"/>
              <a:t>CNVWES</a:t>
            </a:r>
            <a:r>
              <a:rPr lang="zh-CN" altLang="en-US" dirty="0"/>
              <a:t>标签页</a:t>
            </a:r>
            <a:r>
              <a:rPr lang="zh-CN" altLang="en-US" dirty="0">
                <a:latin typeface="DeepSeek-CJK-patch"/>
              </a:rPr>
              <a:t>的这个突变的展示（不知道客户需不需要所有添加了信息的</a:t>
            </a:r>
            <a:r>
              <a:rPr lang="en-US" altLang="zh-CN" dirty="0">
                <a:latin typeface="DeepSeek-CJK-patch"/>
              </a:rPr>
              <a:t>CNV</a:t>
            </a:r>
            <a:r>
              <a:rPr lang="zh-CN" altLang="en-US" dirty="0">
                <a:latin typeface="DeepSeek-CJK-patch"/>
              </a:rPr>
              <a:t>的下载）</a:t>
            </a:r>
            <a:endParaRPr lang="en-US" altLang="zh-CN" dirty="0">
              <a:latin typeface="DeepSeek-CJK-patch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B21C68-3951-1233-D26F-BFCD3F618E20}"/>
              </a:ext>
            </a:extLst>
          </p:cNvPr>
          <p:cNvSpPr/>
          <p:nvPr/>
        </p:nvSpPr>
        <p:spPr>
          <a:xfrm>
            <a:off x="5201572" y="2925395"/>
            <a:ext cx="6907267" cy="3112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82FC6D-3669-F2D1-7307-C15757EAB44F}"/>
              </a:ext>
            </a:extLst>
          </p:cNvPr>
          <p:cNvSpPr/>
          <p:nvPr/>
        </p:nvSpPr>
        <p:spPr>
          <a:xfrm>
            <a:off x="5554572" y="30913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B0F0"/>
                </a:solidFill>
              </a:rPr>
              <a:t>Pathogenic</a:t>
            </a:r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C11FAA-FCD2-9797-D4A9-94807D86E8C6}"/>
              </a:ext>
            </a:extLst>
          </p:cNvPr>
          <p:cNvSpPr/>
          <p:nvPr/>
        </p:nvSpPr>
        <p:spPr>
          <a:xfrm>
            <a:off x="5554572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2804CB8-945F-030D-FBF8-26D156B77AB4}"/>
              </a:ext>
            </a:extLst>
          </p:cNvPr>
          <p:cNvSpPr/>
          <p:nvPr/>
        </p:nvSpPr>
        <p:spPr>
          <a:xfrm>
            <a:off x="7611793" y="420860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412993A-DB34-386D-A8AB-58F7F259CAE2}"/>
              </a:ext>
            </a:extLst>
          </p:cNvPr>
          <p:cNvSpPr/>
          <p:nvPr/>
        </p:nvSpPr>
        <p:spPr>
          <a:xfrm>
            <a:off x="7611793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EE371A-9E42-1E81-22E0-10299238B8E1}"/>
              </a:ext>
            </a:extLst>
          </p:cNvPr>
          <p:cNvSpPr/>
          <p:nvPr/>
        </p:nvSpPr>
        <p:spPr>
          <a:xfrm>
            <a:off x="7611792" y="3091319"/>
            <a:ext cx="2141537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pathogenic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C9BE1A-E2DA-BD98-92E8-A4DFB02419C6}"/>
              </a:ext>
            </a:extLst>
          </p:cNvPr>
          <p:cNvSpPr/>
          <p:nvPr/>
        </p:nvSpPr>
        <p:spPr>
          <a:xfrm>
            <a:off x="5554572" y="420860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EE7621-8DDB-BBD9-8F57-405889609B2A}"/>
              </a:ext>
            </a:extLst>
          </p:cNvPr>
          <p:cNvSpPr/>
          <p:nvPr/>
        </p:nvSpPr>
        <p:spPr>
          <a:xfrm>
            <a:off x="9948772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 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22EEFB-0959-1B3C-3B22-B2039A93A0AB}"/>
              </a:ext>
            </a:extLst>
          </p:cNvPr>
          <p:cNvSpPr/>
          <p:nvPr/>
        </p:nvSpPr>
        <p:spPr>
          <a:xfrm>
            <a:off x="6154072" y="4986543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BC8A18E-0C94-68C1-11A9-50FA196BD561}"/>
              </a:ext>
            </a:extLst>
          </p:cNvPr>
          <p:cNvSpPr/>
          <p:nvPr/>
        </p:nvSpPr>
        <p:spPr>
          <a:xfrm>
            <a:off x="7894547" y="4986543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0B9FFEE-1B34-C2FA-FAF6-CC178E45AF79}"/>
              </a:ext>
            </a:extLst>
          </p:cNvPr>
          <p:cNvSpPr/>
          <p:nvPr/>
        </p:nvSpPr>
        <p:spPr>
          <a:xfrm>
            <a:off x="9496334" y="4986543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Reset to Default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66AE64-BE96-0D30-1CEE-E607DB7C9711}"/>
              </a:ext>
            </a:extLst>
          </p:cNvPr>
          <p:cNvSpPr/>
          <p:nvPr/>
        </p:nvSpPr>
        <p:spPr>
          <a:xfrm>
            <a:off x="6154072" y="5480195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确定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32BFD1C-1FE9-8659-D666-F7D33DF3CE99}"/>
              </a:ext>
            </a:extLst>
          </p:cNvPr>
          <p:cNvSpPr/>
          <p:nvPr/>
        </p:nvSpPr>
        <p:spPr>
          <a:xfrm>
            <a:off x="7894547" y="5480195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清除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21879B3-D42D-BF65-6AF1-D65127C80447}"/>
              </a:ext>
            </a:extLst>
          </p:cNvPr>
          <p:cNvSpPr/>
          <p:nvPr/>
        </p:nvSpPr>
        <p:spPr>
          <a:xfrm>
            <a:off x="9496334" y="5480195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恢复默认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D39045-41C5-B1AD-035A-08B9EAF50BD0}"/>
              </a:ext>
            </a:extLst>
          </p:cNvPr>
          <p:cNvSpPr txBox="1"/>
          <p:nvPr/>
        </p:nvSpPr>
        <p:spPr>
          <a:xfrm>
            <a:off x="1592459" y="5080331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弹出的页面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65F6429-D858-313A-F97E-5D4D104EFEA5}"/>
              </a:ext>
            </a:extLst>
          </p:cNvPr>
          <p:cNvCxnSpPr>
            <a:cxnSpLocks/>
          </p:cNvCxnSpPr>
          <p:nvPr/>
        </p:nvCxnSpPr>
        <p:spPr>
          <a:xfrm flipH="1">
            <a:off x="3017672" y="4576903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420053C-81DB-5CE1-4175-A5DA7EF1063E}"/>
              </a:ext>
            </a:extLst>
          </p:cNvPr>
          <p:cNvSpPr txBox="1"/>
          <p:nvPr/>
        </p:nvSpPr>
        <p:spPr>
          <a:xfrm>
            <a:off x="2216859" y="5743556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英文按钮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408AA20-A4A6-AED6-0B29-EAEC22A7E13E}"/>
              </a:ext>
            </a:extLst>
          </p:cNvPr>
          <p:cNvCxnSpPr>
            <a:cxnSpLocks/>
          </p:cNvCxnSpPr>
          <p:nvPr/>
        </p:nvCxnSpPr>
        <p:spPr>
          <a:xfrm flipH="1">
            <a:off x="3642072" y="5240128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63FE576-4F88-AAA3-10F1-9B458134FEC1}"/>
              </a:ext>
            </a:extLst>
          </p:cNvPr>
          <p:cNvSpPr txBox="1"/>
          <p:nvPr/>
        </p:nvSpPr>
        <p:spPr>
          <a:xfrm>
            <a:off x="3151959" y="6425148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中文按钮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2F5ADC2-AD29-C021-69DB-19B01AE782C7}"/>
              </a:ext>
            </a:extLst>
          </p:cNvPr>
          <p:cNvCxnSpPr>
            <a:cxnSpLocks/>
          </p:cNvCxnSpPr>
          <p:nvPr/>
        </p:nvCxnSpPr>
        <p:spPr>
          <a:xfrm flipH="1">
            <a:off x="4577172" y="5866659"/>
            <a:ext cx="1679318" cy="4649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D5902B9-A8BF-E358-A724-0EF77B2B0569}"/>
              </a:ext>
            </a:extLst>
          </p:cNvPr>
          <p:cNvSpPr/>
          <p:nvPr/>
        </p:nvSpPr>
        <p:spPr>
          <a:xfrm>
            <a:off x="3390592" y="3370000"/>
            <a:ext cx="865693" cy="946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552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C55F28-C2BF-6F5B-D77C-48B0A2FE6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1" t="585" r="31367" b="67194"/>
          <a:stretch/>
        </p:blipFill>
        <p:spPr>
          <a:xfrm>
            <a:off x="926186" y="2374088"/>
            <a:ext cx="6559340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EC127DA-07C5-B37B-96D3-CD07CA443DB1}"/>
              </a:ext>
            </a:extLst>
          </p:cNvPr>
          <p:cNvSpPr txBox="1"/>
          <p:nvPr/>
        </p:nvSpPr>
        <p:spPr>
          <a:xfrm>
            <a:off x="156150" y="63520"/>
            <a:ext cx="11823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第五列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ACMG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ACMG_result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ACMG_result</a:t>
            </a:r>
            <a:r>
              <a:rPr lang="zh-CN" altLang="en-US" dirty="0"/>
              <a:t>、</a:t>
            </a:r>
            <a:r>
              <a:rPr lang="en-US" altLang="zh-CN" dirty="0"/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，其中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列格式如下：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1A;2A;3C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，展示时以分号分割该列展示</a:t>
            </a:r>
            <a:endParaRPr lang="zh-CN" altLang="en-US" dirty="0"/>
          </a:p>
          <a:p>
            <a:endParaRPr lang="en-US" altLang="zh-CN" dirty="0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AB3D1B-F096-5FE7-8184-C09A23A058F1}"/>
              </a:ext>
            </a:extLst>
          </p:cNvPr>
          <p:cNvSpPr/>
          <p:nvPr/>
        </p:nvSpPr>
        <p:spPr>
          <a:xfrm>
            <a:off x="5424325" y="3018574"/>
            <a:ext cx="1481926" cy="129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000709-D4C5-F60B-E531-A04B50E8315F}"/>
              </a:ext>
            </a:extLst>
          </p:cNvPr>
          <p:cNvSpPr/>
          <p:nvPr/>
        </p:nvSpPr>
        <p:spPr>
          <a:xfrm>
            <a:off x="5575299" y="4390173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73AA6-495D-05F6-2D26-A4F4226C3799}"/>
              </a:ext>
            </a:extLst>
          </p:cNvPr>
          <p:cNvSpPr/>
          <p:nvPr/>
        </p:nvSpPr>
        <p:spPr>
          <a:xfrm>
            <a:off x="5860325" y="4466373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0CCBB0-EEF1-D030-C445-5B9F82FE4155}"/>
              </a:ext>
            </a:extLst>
          </p:cNvPr>
          <p:cNvCxnSpPr>
            <a:cxnSpLocks/>
          </p:cNvCxnSpPr>
          <p:nvPr/>
        </p:nvCxnSpPr>
        <p:spPr>
          <a:xfrm>
            <a:off x="6159499" y="4872773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D127621-AE03-BCD6-B39D-C091BDC5A377}"/>
              </a:ext>
            </a:extLst>
          </p:cNvPr>
          <p:cNvSpPr/>
          <p:nvPr/>
        </p:nvSpPr>
        <p:spPr>
          <a:xfrm>
            <a:off x="5860325" y="3188437"/>
            <a:ext cx="451574" cy="186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6C5F9C-0AB6-9483-B19C-EF83C14BCCF5}"/>
              </a:ext>
            </a:extLst>
          </p:cNvPr>
          <p:cNvSpPr txBox="1"/>
          <p:nvPr/>
        </p:nvSpPr>
        <p:spPr>
          <a:xfrm>
            <a:off x="7025646" y="2649241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561AFE2-4867-585F-8D90-74C619D576DB}"/>
              </a:ext>
            </a:extLst>
          </p:cNvPr>
          <p:cNvCxnSpPr>
            <a:cxnSpLocks/>
          </p:cNvCxnSpPr>
          <p:nvPr/>
        </p:nvCxnSpPr>
        <p:spPr>
          <a:xfrm flipV="1">
            <a:off x="6311899" y="2802673"/>
            <a:ext cx="723900" cy="4318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0ED1C0D-C2A8-B8DA-7FD2-0D74DEDB17ED}"/>
              </a:ext>
            </a:extLst>
          </p:cNvPr>
          <p:cNvSpPr/>
          <p:nvPr/>
        </p:nvSpPr>
        <p:spPr>
          <a:xfrm>
            <a:off x="5575299" y="3387905"/>
            <a:ext cx="1041402" cy="8326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81A737-6E7A-B8AE-3541-330F1276D0BA}"/>
              </a:ext>
            </a:extLst>
          </p:cNvPr>
          <p:cNvSpPr txBox="1"/>
          <p:nvPr/>
        </p:nvSpPr>
        <p:spPr>
          <a:xfrm>
            <a:off x="7035799" y="3316507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ACMG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745D96C-F36C-3D03-59B7-583971FDB95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616701" y="3469939"/>
            <a:ext cx="429251" cy="33426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5A8747F-DB68-59E3-B049-B2671BC6E4DF}"/>
              </a:ext>
            </a:extLst>
          </p:cNvPr>
          <p:cNvSpPr txBox="1"/>
          <p:nvPr/>
        </p:nvSpPr>
        <p:spPr>
          <a:xfrm>
            <a:off x="5412746" y="5401876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75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68B5-5616-F35F-A48F-A4561E77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A3645E3-9D5F-CC2C-3B79-37395C9F5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90" t="130" r="390" b="67649"/>
          <a:stretch/>
        </p:blipFill>
        <p:spPr>
          <a:xfrm>
            <a:off x="698811" y="2903317"/>
            <a:ext cx="7642302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A86456A-B00E-B126-E7C4-259CD818873B}"/>
              </a:ext>
            </a:extLst>
          </p:cNvPr>
          <p:cNvSpPr txBox="1"/>
          <p:nvPr/>
        </p:nvSpPr>
        <p:spPr>
          <a:xfrm>
            <a:off x="156150" y="63520"/>
            <a:ext cx="118233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Chromosomal Region</a:t>
            </a:r>
            <a:r>
              <a:rPr lang="zh-CN" altLang="en-US" dirty="0"/>
              <a:t>放到第一列里去了，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第六列</a:t>
            </a:r>
            <a:r>
              <a:rPr lang="en-US" altLang="zh-CN" dirty="0">
                <a:solidFill>
                  <a:srgbClr val="FF0000"/>
                </a:solidFill>
              </a:rPr>
              <a:t>Dosage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2025.03.30</a:t>
            </a:r>
            <a:r>
              <a:rPr lang="zh-CN" altLang="en-US" dirty="0">
                <a:solidFill>
                  <a:srgbClr val="FF0000"/>
                </a:solidFill>
              </a:rPr>
              <a:t>沟通时没说，新增的），读取</a:t>
            </a:r>
            <a:r>
              <a:rPr lang="en-US" altLang="zh-CN" dirty="0">
                <a:solidFill>
                  <a:srgbClr val="FF0000"/>
                </a:solidFill>
              </a:rPr>
              <a:t>Dosage</a:t>
            </a:r>
            <a:r>
              <a:rPr lang="zh-CN" altLang="en-US" dirty="0">
                <a:solidFill>
                  <a:srgbClr val="FF0000"/>
                </a:solidFill>
              </a:rPr>
              <a:t>列展示，该列格式</a:t>
            </a:r>
            <a:r>
              <a:rPr lang="en-US" altLang="zh-CN" dirty="0" err="1">
                <a:solidFill>
                  <a:srgbClr val="FF0000"/>
                </a:solidFill>
              </a:rPr>
              <a:t>aaaaa;bbbbb;ccccc</a:t>
            </a:r>
            <a:r>
              <a:rPr lang="zh-CN" altLang="en-US" dirty="0">
                <a:solidFill>
                  <a:srgbClr val="FF0000"/>
                </a:solidFill>
              </a:rPr>
              <a:t>，用分号分割后并行展示，因为新增的该列，后面列顺势递增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第七列</a:t>
            </a:r>
            <a:r>
              <a:rPr lang="en-US" altLang="zh-CN" dirty="0"/>
              <a:t>Related HPOs</a:t>
            </a:r>
            <a:r>
              <a:rPr lang="zh-CN" altLang="en-US" dirty="0"/>
              <a:t>（这列看不到信息，不知道是个啥，讨论后再定）</a:t>
            </a:r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展示表头</a:t>
            </a:r>
            <a:r>
              <a:rPr lang="en-US" altLang="zh-CN" dirty="0">
                <a:latin typeface="Roboto"/>
              </a:rPr>
              <a:t>HPO</a:t>
            </a:r>
            <a:r>
              <a:rPr lang="zh-CN" altLang="en-US" dirty="0">
                <a:latin typeface="Roboto"/>
              </a:rPr>
              <a:t>，该列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 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，用分号分割，竖列展示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8B5A7F-8C96-F4FF-3F10-4CA9215551C7}"/>
              </a:ext>
            </a:extLst>
          </p:cNvPr>
          <p:cNvSpPr/>
          <p:nvPr/>
        </p:nvSpPr>
        <p:spPr>
          <a:xfrm>
            <a:off x="6481956" y="3180793"/>
            <a:ext cx="1778000" cy="1580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068266-08A0-BB4B-22B8-B782E613F45E}"/>
              </a:ext>
            </a:extLst>
          </p:cNvPr>
          <p:cNvSpPr txBox="1"/>
          <p:nvPr/>
        </p:nvSpPr>
        <p:spPr>
          <a:xfrm>
            <a:off x="6732704" y="2095499"/>
            <a:ext cx="4470400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HPAAA(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HPKKK(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5702E7-570B-8248-D1FA-B5548E105C7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6732704" y="2557164"/>
            <a:ext cx="0" cy="62362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761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CB2A1A-82AC-353A-3732-31CF8F731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7" t="130" r="389" b="67649"/>
          <a:stretch/>
        </p:blipFill>
        <p:spPr>
          <a:xfrm>
            <a:off x="1138044" y="2970224"/>
            <a:ext cx="4572001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4DC8D11-FD85-6785-3FE4-3C912C2F5B08}"/>
              </a:ext>
            </a:extLst>
          </p:cNvPr>
          <p:cNvSpPr txBox="1"/>
          <p:nvPr/>
        </p:nvSpPr>
        <p:spPr>
          <a:xfrm>
            <a:off x="156150" y="63520"/>
            <a:ext cx="118233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信息列太少了，放点我们的信息</a:t>
            </a:r>
            <a:endParaRPr lang="en-US" altLang="zh-CN" dirty="0"/>
          </a:p>
          <a:p>
            <a:r>
              <a:rPr lang="zh-CN" altLang="en-US" dirty="0"/>
              <a:t>第八列</a:t>
            </a:r>
            <a:r>
              <a:rPr lang="en-US" altLang="zh-CN" b="0" i="0" dirty="0">
                <a:effectLst/>
                <a:latin typeface="-apple-system"/>
              </a:rPr>
              <a:t>DGV</a:t>
            </a:r>
          </a:p>
          <a:p>
            <a:r>
              <a:rPr lang="zh-CN" altLang="en-US" dirty="0">
                <a:latin typeface="-apple-system"/>
              </a:rPr>
              <a:t>展示表头</a:t>
            </a:r>
            <a:r>
              <a:rPr lang="en-US" altLang="zh-CN" dirty="0">
                <a:latin typeface="-apple-system"/>
              </a:rPr>
              <a:t>DGV</a:t>
            </a:r>
            <a:r>
              <a:rPr lang="zh-CN" altLang="en-US" dirty="0">
                <a:latin typeface="-apple-system"/>
              </a:rPr>
              <a:t>列信息，格式如下：</a:t>
            </a:r>
            <a:r>
              <a:rPr lang="en-US" altLang="zh-CN" dirty="0" err="1">
                <a:latin typeface="-apple-system"/>
              </a:rPr>
              <a:t>aaa;bbb;ccc</a:t>
            </a:r>
            <a:r>
              <a:rPr lang="zh-CN" altLang="en-US" dirty="0">
                <a:latin typeface="-apple-system"/>
              </a:rPr>
              <a:t>，按照分号分隔并排放，这列有为空的可能</a:t>
            </a:r>
            <a:endParaRPr lang="en-US" altLang="zh-CN" dirty="0"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第九列</a:t>
            </a:r>
            <a:r>
              <a:rPr lang="en-US" altLang="zh-CN" dirty="0" err="1">
                <a:latin typeface="-apple-system"/>
              </a:rPr>
              <a:t>Clinvar</a:t>
            </a:r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展示表头</a:t>
            </a:r>
            <a:r>
              <a:rPr lang="en-US" altLang="zh-CN" dirty="0" err="1">
                <a:latin typeface="-apple-system"/>
              </a:rPr>
              <a:t>Clinvar</a:t>
            </a:r>
            <a:r>
              <a:rPr lang="zh-CN" altLang="en-US" dirty="0">
                <a:latin typeface="-apple-system"/>
              </a:rPr>
              <a:t>列信息，格式如下：</a:t>
            </a:r>
            <a:r>
              <a:rPr lang="en-US" altLang="zh-CN" dirty="0" err="1">
                <a:latin typeface="-apple-system"/>
              </a:rPr>
              <a:t>ddd;eee;fff</a:t>
            </a:r>
            <a:r>
              <a:rPr lang="zh-CN" altLang="en-US" dirty="0">
                <a:latin typeface="-apple-system"/>
              </a:rPr>
              <a:t>，按照分号分隔并排放，这列有为空的可能</a:t>
            </a:r>
            <a:endParaRPr lang="en-US" altLang="zh-CN" dirty="0"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第十列</a:t>
            </a:r>
            <a:r>
              <a:rPr lang="en-US" altLang="zh-CN" dirty="0">
                <a:latin typeface="-apple-system"/>
              </a:rPr>
              <a:t>Plot</a:t>
            </a:r>
          </a:p>
          <a:p>
            <a:r>
              <a:rPr lang="zh-CN" altLang="en-US" dirty="0">
                <a:solidFill>
                  <a:srgbClr val="2A2F45"/>
                </a:solidFill>
                <a:latin typeface="PingFang SC"/>
              </a:rPr>
              <a:t>读取表头</a:t>
            </a:r>
            <a:r>
              <a:rPr lang="en-US" altLang="zh-CN" dirty="0">
                <a:latin typeface="-apple-system"/>
              </a:rPr>
              <a:t>Plot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列放的图片文件（绝对路径）</a:t>
            </a:r>
            <a:endParaRPr lang="en-US" altLang="zh-CN" dirty="0">
              <a:latin typeface="-apple-system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505975-C573-54E7-CCD4-2A9F37FCAC02}"/>
              </a:ext>
            </a:extLst>
          </p:cNvPr>
          <p:cNvSpPr/>
          <p:nvPr/>
        </p:nvSpPr>
        <p:spPr>
          <a:xfrm>
            <a:off x="5710045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DGV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326E17-7637-9A9F-B0A6-37657ADF4344}"/>
              </a:ext>
            </a:extLst>
          </p:cNvPr>
          <p:cNvSpPr/>
          <p:nvPr/>
        </p:nvSpPr>
        <p:spPr>
          <a:xfrm>
            <a:off x="7222894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Clinvar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1F8961-0E4A-68A3-BE15-4E564405D704}"/>
              </a:ext>
            </a:extLst>
          </p:cNvPr>
          <p:cNvSpPr/>
          <p:nvPr/>
        </p:nvSpPr>
        <p:spPr>
          <a:xfrm>
            <a:off x="8836104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0" dirty="0">
                <a:solidFill>
                  <a:schemeClr val="tx1"/>
                </a:solidFill>
                <a:effectLst/>
                <a:latin typeface="-apple-system"/>
              </a:rPr>
              <a:t>Plot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225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97191D-AF09-1AF5-067B-625800BE1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456"/>
            <a:ext cx="12192000" cy="51911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837E24-5822-AE51-DABE-DFD17A8A42C5}"/>
              </a:ext>
            </a:extLst>
          </p:cNvPr>
          <p:cNvSpPr txBox="1"/>
          <p:nvPr/>
        </p:nvSpPr>
        <p:spPr>
          <a:xfrm>
            <a:off x="156150" y="245732"/>
            <a:ext cx="118233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点击某个基因后，也页面下方出现对应的每个基因的</a:t>
            </a:r>
            <a:r>
              <a:rPr lang="en-US" altLang="zh-CN" dirty="0"/>
              <a:t>exon</a:t>
            </a:r>
            <a:r>
              <a:rPr lang="zh-CN" altLang="en-US" dirty="0"/>
              <a:t>的拷贝数值</a:t>
            </a:r>
            <a:endParaRPr lang="en-US" altLang="zh-CN" dirty="0"/>
          </a:p>
          <a:p>
            <a:pPr fontAlgn="ctr">
              <a:buNone/>
            </a:pPr>
            <a:r>
              <a:rPr lang="zh-CN" altLang="en-US" dirty="0">
                <a:latin typeface="-apple-system"/>
              </a:rPr>
              <a:t>读取</a:t>
            </a:r>
            <a:r>
              <a:rPr lang="en-US" altLang="zh-CN" dirty="0">
                <a:latin typeface="-apple-system"/>
              </a:rPr>
              <a:t>result/</a:t>
            </a:r>
            <a:r>
              <a:rPr lang="en-US" altLang="zh-CN" dirty="0" err="1">
                <a:latin typeface="-apple-system"/>
              </a:rPr>
              <a:t>CNV_gene</a:t>
            </a:r>
            <a:r>
              <a:rPr lang="en-US" altLang="zh-CN" dirty="0">
                <a:latin typeface="-apple-system"/>
              </a:rPr>
              <a:t>/cnvkit_gene.txt</a:t>
            </a:r>
            <a:r>
              <a:rPr lang="zh-CN" altLang="en-US" dirty="0">
                <a:latin typeface="-apple-system"/>
              </a:rPr>
              <a:t>文件，将我们之前的展示页面替换他们，表格信息不放表格，提取成文字放标题</a:t>
            </a:r>
            <a:endParaRPr lang="en-US" altLang="zh-CN" dirty="0">
              <a:latin typeface="-apple-system"/>
            </a:endParaRPr>
          </a:p>
          <a:p>
            <a:pPr fontAlgn="ctr">
              <a:buNone/>
            </a:pPr>
            <a:r>
              <a:rPr lang="zh-CN" altLang="en-US" dirty="0">
                <a:effectLst/>
                <a:latin typeface="-apple-system"/>
              </a:rPr>
              <a:t>这里每行的基因的</a:t>
            </a:r>
            <a:r>
              <a:rPr lang="en-US" altLang="zh-CN" dirty="0">
                <a:latin typeface="-apple-system"/>
              </a:rPr>
              <a:t>CNV</a:t>
            </a:r>
            <a:r>
              <a:rPr lang="zh-CN" altLang="en-US" dirty="0">
                <a:latin typeface="-apple-system"/>
              </a:rPr>
              <a:t>只放单一染色体的，所有不用担心在多染色体上的基因的问题</a:t>
            </a:r>
            <a:endParaRPr lang="en-US" altLang="zh-CN" dirty="0"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6C8178-71AF-C824-48FB-33184845FA66}"/>
              </a:ext>
            </a:extLst>
          </p:cNvPr>
          <p:cNvSpPr/>
          <p:nvPr/>
        </p:nvSpPr>
        <p:spPr>
          <a:xfrm>
            <a:off x="2542478" y="4951141"/>
            <a:ext cx="9344722" cy="1670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08BC535-9742-1DC5-C613-4846CC438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396" y="1214307"/>
            <a:ext cx="6791092" cy="32494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2A238A3-C2B2-8F47-1546-A7E2C9F6A1F9}"/>
              </a:ext>
            </a:extLst>
          </p:cNvPr>
          <p:cNvSpPr/>
          <p:nvPr/>
        </p:nvSpPr>
        <p:spPr>
          <a:xfrm flipV="1">
            <a:off x="6208295" y="4643769"/>
            <a:ext cx="5390148" cy="27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44C904-07C1-840D-EE82-C6D3738BFEA3}"/>
              </a:ext>
            </a:extLst>
          </p:cNvPr>
          <p:cNvSpPr txBox="1"/>
          <p:nvPr/>
        </p:nvSpPr>
        <p:spPr>
          <a:xfrm>
            <a:off x="7569200" y="5081675"/>
            <a:ext cx="339156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不知道是啥，不管</a:t>
            </a:r>
            <a:endParaRPr lang="en-US" altLang="zh-CN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A80126A-7097-24B5-94F9-354D27B4B7BB}"/>
              </a:ext>
            </a:extLst>
          </p:cNvPr>
          <p:cNvCxnSpPr>
            <a:cxnSpLocks/>
          </p:cNvCxnSpPr>
          <p:nvPr/>
        </p:nvCxnSpPr>
        <p:spPr>
          <a:xfrm>
            <a:off x="7964905" y="4824663"/>
            <a:ext cx="288758" cy="25701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0EFE04-1C5D-6F25-F448-A51F110BE75E}"/>
              </a:ext>
            </a:extLst>
          </p:cNvPr>
          <p:cNvSpPr/>
          <p:nvPr/>
        </p:nvSpPr>
        <p:spPr>
          <a:xfrm flipV="1">
            <a:off x="4543534" y="1520356"/>
            <a:ext cx="6152540" cy="2390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FB71FC-A7AD-8BD8-F987-ED38F1948E86}"/>
              </a:ext>
            </a:extLst>
          </p:cNvPr>
          <p:cNvSpPr/>
          <p:nvPr/>
        </p:nvSpPr>
        <p:spPr>
          <a:xfrm flipV="1">
            <a:off x="4695934" y="4233342"/>
            <a:ext cx="6264834" cy="1651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E0E6E8F-16A1-BEEE-7117-E99A505DFD50}"/>
              </a:ext>
            </a:extLst>
          </p:cNvPr>
          <p:cNvCxnSpPr>
            <a:cxnSpLocks/>
          </p:cNvCxnSpPr>
          <p:nvPr/>
        </p:nvCxnSpPr>
        <p:spPr>
          <a:xfrm flipV="1">
            <a:off x="5014495" y="3152274"/>
            <a:ext cx="0" cy="22987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6273A2E-1465-B9F9-E6D1-C693EC96F3B4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174959" y="4315932"/>
            <a:ext cx="520975" cy="40483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5859736-DAFC-8778-DADB-99AAF42E0181}"/>
              </a:ext>
            </a:extLst>
          </p:cNvPr>
          <p:cNvSpPr/>
          <p:nvPr/>
        </p:nvSpPr>
        <p:spPr>
          <a:xfrm flipV="1">
            <a:off x="2574758" y="4675375"/>
            <a:ext cx="2472016" cy="208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2D478-F70A-3B43-38EC-871973F5492F}"/>
              </a:ext>
            </a:extLst>
          </p:cNvPr>
          <p:cNvSpPr/>
          <p:nvPr/>
        </p:nvSpPr>
        <p:spPr>
          <a:xfrm>
            <a:off x="1996966" y="1681655"/>
            <a:ext cx="8534400" cy="3269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这页功能不需要了</a:t>
            </a:r>
          </a:p>
        </p:txBody>
      </p:sp>
    </p:spTree>
    <p:extLst>
      <p:ext uri="{BB962C8B-B14F-4D97-AF65-F5344CB8AC3E}">
        <p14:creationId xmlns:p14="http://schemas.microsoft.com/office/powerpoint/2010/main" val="183021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DFC303-1F24-DC66-3EAD-AD57B0DC3064}"/>
              </a:ext>
            </a:extLst>
          </p:cNvPr>
          <p:cNvSpPr txBox="1"/>
          <p:nvPr/>
        </p:nvSpPr>
        <p:spPr>
          <a:xfrm>
            <a:off x="254357" y="266095"/>
            <a:ext cx="1084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接下来是左边筛选列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CAFC12-5655-1028-531C-60F9156BD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9" y="1137424"/>
            <a:ext cx="11544531" cy="49154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C228C31-BD4E-56FE-2998-9FEE39A12E73}"/>
              </a:ext>
            </a:extLst>
          </p:cNvPr>
          <p:cNvSpPr/>
          <p:nvPr/>
        </p:nvSpPr>
        <p:spPr>
          <a:xfrm>
            <a:off x="479502" y="903249"/>
            <a:ext cx="2687444" cy="54417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823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E4D5CC-C86E-B19D-6069-77EA85F56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86" b="53380"/>
          <a:stretch/>
        </p:blipFill>
        <p:spPr>
          <a:xfrm>
            <a:off x="34969" y="576242"/>
            <a:ext cx="5031322" cy="4516243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041E497-CEAE-62FF-6A81-CC166C9E8633}"/>
              </a:ext>
            </a:extLst>
          </p:cNvPr>
          <p:cNvCxnSpPr>
            <a:cxnSpLocks/>
          </p:cNvCxnSpPr>
          <p:nvPr/>
        </p:nvCxnSpPr>
        <p:spPr>
          <a:xfrm>
            <a:off x="4505093" y="1472891"/>
            <a:ext cx="1220475" cy="39740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6CE62D8-B331-ECD0-2A5F-524026AC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51" t="24424" b="23771"/>
          <a:stretch/>
        </p:blipFill>
        <p:spPr>
          <a:xfrm>
            <a:off x="1830335" y="3236934"/>
            <a:ext cx="5031323" cy="338676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3D012E4-3685-442E-DDA3-CB27A81B2C2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3004" y="1750741"/>
            <a:ext cx="5603235" cy="234648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7B58F4E-2B38-56AC-6646-8D8C986DE963}"/>
              </a:ext>
            </a:extLst>
          </p:cNvPr>
          <p:cNvSpPr txBox="1"/>
          <p:nvPr/>
        </p:nvSpPr>
        <p:spPr>
          <a:xfrm>
            <a:off x="5966239" y="377406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文字信息：</a:t>
            </a:r>
            <a:r>
              <a:rPr lang="en-US" altLang="zh-CN" dirty="0"/>
              <a:t>Exclude Selected </a:t>
            </a:r>
            <a:r>
              <a:rPr lang="en-US" altLang="zh-CN" dirty="0" err="1"/>
              <a:t>Genesets</a:t>
            </a:r>
            <a:endParaRPr lang="en-US" altLang="zh-CN" dirty="0"/>
          </a:p>
          <a:p>
            <a:r>
              <a:rPr lang="zh-CN" altLang="en-US" dirty="0"/>
              <a:t>如果勾选了这个，那就展示不在用户输入的基因的行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046E52-E34F-224D-8064-FC063EB2EDE9}"/>
              </a:ext>
            </a:extLst>
          </p:cNvPr>
          <p:cNvSpPr/>
          <p:nvPr/>
        </p:nvSpPr>
        <p:spPr>
          <a:xfrm>
            <a:off x="41565" y="984761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913424-B135-891B-6DF9-34C174FA141E}"/>
              </a:ext>
            </a:extLst>
          </p:cNvPr>
          <p:cNvSpPr txBox="1"/>
          <p:nvPr/>
        </p:nvSpPr>
        <p:spPr>
          <a:xfrm>
            <a:off x="5728772" y="57356"/>
            <a:ext cx="6359748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Geneset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，和突变一样的功能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点击那个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+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号，弹出一个对话框，让用户输入基因列表，然后点击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，将用户输入的基因和表格</a:t>
            </a:r>
            <a:r>
              <a:rPr lang="en-US" altLang="zh-CN" dirty="0"/>
              <a:t>Gene</a:t>
            </a:r>
            <a:r>
              <a:rPr lang="zh-CN" altLang="en-US" dirty="0"/>
              <a:t>列进行比较，突出显示一下不在</a:t>
            </a:r>
            <a:r>
              <a:rPr lang="en-US" altLang="zh-CN" dirty="0"/>
              <a:t>Gene</a:t>
            </a:r>
            <a:r>
              <a:rPr lang="zh-CN" altLang="en-US" dirty="0"/>
              <a:t>列的基因，如果用户能接受，点击</a:t>
            </a:r>
            <a:r>
              <a:rPr lang="en-US" altLang="zh-CN" dirty="0"/>
              <a:t>Confirm</a:t>
            </a:r>
            <a:r>
              <a:rPr lang="zh-CN" altLang="en-US" dirty="0"/>
              <a:t>后，将客户输入的基因展示在这里，如果用户不接受，那就随他自己重新输入，然后点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Check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一下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+</a:t>
            </a:r>
            <a:r>
              <a:rPr lang="zh-CN" altLang="en-US" dirty="0"/>
              <a:t>号旁边的菜单符号，展示用户输入的基因</a:t>
            </a:r>
            <a:r>
              <a:rPr lang="en-US" altLang="zh-CN" dirty="0"/>
              <a:t>set</a:t>
            </a:r>
            <a:r>
              <a:rPr lang="zh-CN" altLang="en-US" dirty="0"/>
              <a:t>，和突变基因</a:t>
            </a:r>
            <a:r>
              <a:rPr lang="en-US" altLang="zh-CN" dirty="0"/>
              <a:t>set</a:t>
            </a:r>
            <a:r>
              <a:rPr lang="zh-CN" altLang="en-US" dirty="0"/>
              <a:t>相通用（需要在展示页面增加基因</a:t>
            </a:r>
            <a:r>
              <a:rPr lang="en-US" altLang="zh-CN" dirty="0"/>
              <a:t>set</a:t>
            </a:r>
            <a:r>
              <a:rPr lang="zh-CN" altLang="en-US" dirty="0"/>
              <a:t>删除功能）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8384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4741204-3AD0-F41D-AFE5-6F903BD8C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86" b="53380"/>
          <a:stretch/>
        </p:blipFill>
        <p:spPr>
          <a:xfrm>
            <a:off x="34969" y="576242"/>
            <a:ext cx="5031322" cy="451624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AA203C4-C355-7C20-C127-430742299C1E}"/>
              </a:ext>
            </a:extLst>
          </p:cNvPr>
          <p:cNvSpPr/>
          <p:nvPr/>
        </p:nvSpPr>
        <p:spPr>
          <a:xfrm>
            <a:off x="0" y="1958650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B128D6-B30D-D181-B77B-5789FB4C1CCB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297013" y="1266153"/>
            <a:ext cx="1798987" cy="69249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7F45EF2-0E89-237F-ACE6-384B6B3CEF15}"/>
              </a:ext>
            </a:extLst>
          </p:cNvPr>
          <p:cNvSpPr txBox="1"/>
          <p:nvPr/>
        </p:nvSpPr>
        <p:spPr>
          <a:xfrm>
            <a:off x="6096000" y="804488"/>
            <a:ext cx="58627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Gene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/>
              <a:t>Gene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4464964-98B7-CAA5-6E48-49DFC28B667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489969" y="2648561"/>
            <a:ext cx="1606031" cy="3578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19AEFBC-2ACE-6975-3F33-ACC494170522}"/>
              </a:ext>
            </a:extLst>
          </p:cNvPr>
          <p:cNvSpPr/>
          <p:nvPr/>
        </p:nvSpPr>
        <p:spPr>
          <a:xfrm>
            <a:off x="42148" y="2453433"/>
            <a:ext cx="4440642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FC78AC-2D81-AD8B-3F26-A73C7212F323}"/>
              </a:ext>
            </a:extLst>
          </p:cNvPr>
          <p:cNvSpPr txBox="1"/>
          <p:nvPr/>
        </p:nvSpPr>
        <p:spPr>
          <a:xfrm>
            <a:off x="6096000" y="2048396"/>
            <a:ext cx="519697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ACMG Pathogenicity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（不知道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指的是什么）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ACMG_result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883F21-361D-2BF7-7800-345DD49A82DE}"/>
              </a:ext>
            </a:extLst>
          </p:cNvPr>
          <p:cNvSpPr/>
          <p:nvPr/>
        </p:nvSpPr>
        <p:spPr>
          <a:xfrm>
            <a:off x="3573897" y="3030036"/>
            <a:ext cx="1612135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Roboto"/>
              </a:rPr>
              <a:t>User’s Pathogenicity </a:t>
            </a:r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C7EE3D-54D0-C317-ADFD-FD2DCA7864A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186032" y="3277616"/>
            <a:ext cx="1806767" cy="82727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377A9-C0FB-36EC-7289-66CA34F3A60D}"/>
              </a:ext>
            </a:extLst>
          </p:cNvPr>
          <p:cNvSpPr txBox="1"/>
          <p:nvPr/>
        </p:nvSpPr>
        <p:spPr>
          <a:xfrm>
            <a:off x="6917909" y="3721508"/>
            <a:ext cx="450529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加一个，文字信息：</a:t>
            </a:r>
            <a:r>
              <a:rPr lang="en-US" altLang="zh-CN" dirty="0">
                <a:solidFill>
                  <a:schemeClr val="tx1"/>
                </a:solidFill>
                <a:latin typeface="Roboto"/>
              </a:rPr>
              <a:t> User’s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</a:t>
            </a:r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里，用户修改的致病性信息，</a:t>
            </a:r>
            <a:r>
              <a:rPr lang="zh-CN" altLang="en-US" dirty="0"/>
              <a:t>根据用户输入匹配，支持多选吧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2BAE73-6D52-2247-BF8D-8AA2D9F2BDF3}"/>
              </a:ext>
            </a:extLst>
          </p:cNvPr>
          <p:cNvSpPr/>
          <p:nvPr/>
        </p:nvSpPr>
        <p:spPr>
          <a:xfrm>
            <a:off x="136084" y="2933841"/>
            <a:ext cx="1612135" cy="343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365FB5-6B79-8EEA-C5BE-EA1490DFA61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1748219" y="3112812"/>
            <a:ext cx="4474697" cy="206941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36A7F6B-5513-0A63-24CD-2D7C639A3863}"/>
              </a:ext>
            </a:extLst>
          </p:cNvPr>
          <p:cNvSpPr txBox="1"/>
          <p:nvPr/>
        </p:nvSpPr>
        <p:spPr>
          <a:xfrm>
            <a:off x="3970270" y="5182231"/>
            <a:ext cx="450529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Roboto"/>
              </a:rPr>
              <a:t>文字信息：</a:t>
            </a:r>
            <a:r>
              <a:rPr lang="en-US" altLang="zh-CN" dirty="0"/>
              <a:t> CNV Cover Type</a:t>
            </a:r>
            <a:endParaRPr lang="en-US" altLang="zh-CN" dirty="0">
              <a:latin typeface="Roboto"/>
            </a:endParaRPr>
          </a:p>
          <a:p>
            <a:r>
              <a:rPr lang="zh-CN" altLang="en-US" dirty="0">
                <a:latin typeface="Roboto"/>
              </a:rPr>
              <a:t>表格</a:t>
            </a: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651AFB-AA8C-624B-E343-978CF5D90A8E}"/>
              </a:ext>
            </a:extLst>
          </p:cNvPr>
          <p:cNvSpPr/>
          <p:nvPr/>
        </p:nvSpPr>
        <p:spPr>
          <a:xfrm>
            <a:off x="212284" y="3408497"/>
            <a:ext cx="1612135" cy="343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ABDFA58-A54D-C526-291F-53AF630101F4}"/>
              </a:ext>
            </a:extLst>
          </p:cNvPr>
          <p:cNvCxnSpPr>
            <a:cxnSpLocks/>
          </p:cNvCxnSpPr>
          <p:nvPr/>
        </p:nvCxnSpPr>
        <p:spPr>
          <a:xfrm>
            <a:off x="755630" y="3782918"/>
            <a:ext cx="297596" cy="191928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E5C7452-800E-5CA0-8AC4-62CEE4655D60}"/>
              </a:ext>
            </a:extLst>
          </p:cNvPr>
          <p:cNvSpPr txBox="1"/>
          <p:nvPr/>
        </p:nvSpPr>
        <p:spPr>
          <a:xfrm>
            <a:off x="191398" y="5769108"/>
            <a:ext cx="32766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Roboto"/>
              </a:rPr>
              <a:t>文字信息：</a:t>
            </a:r>
            <a:r>
              <a:rPr lang="en-US" altLang="zh-CN" dirty="0"/>
              <a:t> CNV Type</a:t>
            </a:r>
            <a:endParaRPr lang="en-US" altLang="zh-CN" dirty="0">
              <a:latin typeface="Roboto"/>
            </a:endParaRPr>
          </a:p>
          <a:p>
            <a:r>
              <a:rPr lang="zh-CN" altLang="en-US" dirty="0">
                <a:latin typeface="Roboto"/>
              </a:rPr>
              <a:t>表格</a:t>
            </a:r>
            <a:r>
              <a:rPr lang="en-US" altLang="zh-CN" dirty="0" err="1"/>
              <a:t>CNV_Type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860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334E51-4164-1245-5F00-7CB7EB6BD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48" r="77886" b="13355"/>
          <a:stretch/>
        </p:blipFill>
        <p:spPr>
          <a:xfrm>
            <a:off x="165598" y="658585"/>
            <a:ext cx="5031322" cy="554082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1BE501F-BDD9-6E17-75DC-F9692024520D}"/>
              </a:ext>
            </a:extLst>
          </p:cNvPr>
          <p:cNvSpPr/>
          <p:nvPr/>
        </p:nvSpPr>
        <p:spPr>
          <a:xfrm>
            <a:off x="165598" y="1021948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AED8770-8E9E-D548-95FB-1BA14CAC9A7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360127" y="586352"/>
            <a:ext cx="1477725" cy="43559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51A0BB6-0C8E-282D-D18D-367D155324BD}"/>
              </a:ext>
            </a:extLst>
          </p:cNvPr>
          <p:cNvSpPr txBox="1"/>
          <p:nvPr/>
        </p:nvSpPr>
        <p:spPr>
          <a:xfrm>
            <a:off x="5837852" y="263186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Chromosome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Start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End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Start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End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三列信息比较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F8D4E0-9266-F2F8-32F7-7137C2A770BD}"/>
              </a:ext>
            </a:extLst>
          </p:cNvPr>
          <p:cNvSpPr txBox="1"/>
          <p:nvPr/>
        </p:nvSpPr>
        <p:spPr>
          <a:xfrm>
            <a:off x="5664820" y="1517347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CNV Length&gt;=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CNV Length&lt;=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CNV_Length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列信息比较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BAC65AD-F807-5D47-07A1-E3FADE0227E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727724" y="1840512"/>
            <a:ext cx="937096" cy="1047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736470-AA3D-20A8-5EFE-4EE93E936BFC}"/>
              </a:ext>
            </a:extLst>
          </p:cNvPr>
          <p:cNvCxnSpPr>
            <a:cxnSpLocks/>
          </p:cNvCxnSpPr>
          <p:nvPr/>
        </p:nvCxnSpPr>
        <p:spPr>
          <a:xfrm>
            <a:off x="4487161" y="2543726"/>
            <a:ext cx="1177659" cy="18832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20D168E-2531-4036-2EB7-F87D51105B33}"/>
              </a:ext>
            </a:extLst>
          </p:cNvPr>
          <p:cNvSpPr/>
          <p:nvPr/>
        </p:nvSpPr>
        <p:spPr>
          <a:xfrm>
            <a:off x="31034" y="1609679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1C695B-905E-DF8F-0E59-EB64F075739B}"/>
              </a:ext>
            </a:extLst>
          </p:cNvPr>
          <p:cNvSpPr/>
          <p:nvPr/>
        </p:nvSpPr>
        <p:spPr>
          <a:xfrm>
            <a:off x="2681259" y="2302176"/>
            <a:ext cx="180590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2A1E92-7D8D-8570-D5B9-3F8744C898C3}"/>
              </a:ext>
            </a:extLst>
          </p:cNvPr>
          <p:cNvSpPr txBox="1"/>
          <p:nvPr/>
        </p:nvSpPr>
        <p:spPr>
          <a:xfrm>
            <a:off x="5664820" y="244834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Copy Number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 err="1"/>
              <a:t>Copy_Number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列信息比较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6A02E-4B90-7261-2317-3F71B2340F18}"/>
              </a:ext>
            </a:extLst>
          </p:cNvPr>
          <p:cNvSpPr/>
          <p:nvPr/>
        </p:nvSpPr>
        <p:spPr>
          <a:xfrm>
            <a:off x="165598" y="2791604"/>
            <a:ext cx="4462158" cy="33192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F5C3805-DA2F-856D-4B82-A4786BD699B6}"/>
              </a:ext>
            </a:extLst>
          </p:cNvPr>
          <p:cNvCxnSpPr>
            <a:cxnSpLocks/>
          </p:cNvCxnSpPr>
          <p:nvPr/>
        </p:nvCxnSpPr>
        <p:spPr>
          <a:xfrm>
            <a:off x="4627756" y="4133551"/>
            <a:ext cx="1177659" cy="18832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9116BC3-588C-EF8D-44D7-FA3237198690}"/>
              </a:ext>
            </a:extLst>
          </p:cNvPr>
          <p:cNvCxnSpPr>
            <a:cxnSpLocks/>
          </p:cNvCxnSpPr>
          <p:nvPr/>
        </p:nvCxnSpPr>
        <p:spPr>
          <a:xfrm>
            <a:off x="1927870" y="2589163"/>
            <a:ext cx="3909982" cy="163854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0B3D888-F5CD-A7EE-4581-62B76A10C1D5}"/>
              </a:ext>
            </a:extLst>
          </p:cNvPr>
          <p:cNvSpPr/>
          <p:nvPr/>
        </p:nvSpPr>
        <p:spPr>
          <a:xfrm>
            <a:off x="121968" y="2358331"/>
            <a:ext cx="180590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010CF0-5495-7BF0-762C-FC876F71A13C}"/>
              </a:ext>
            </a:extLst>
          </p:cNvPr>
          <p:cNvSpPr txBox="1"/>
          <p:nvPr/>
        </p:nvSpPr>
        <p:spPr>
          <a:xfrm>
            <a:off x="5739589" y="3964115"/>
            <a:ext cx="58627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不知道是什么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070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E7E9-9E2B-69AA-E612-01C5EDBE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F78E7EE-AC2C-26FB-47D8-DC6B9F9E1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411998"/>
            <a:ext cx="12192000" cy="51911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1365F0-2B21-6268-B581-FAC98E621B75}"/>
              </a:ext>
            </a:extLst>
          </p:cNvPr>
          <p:cNvSpPr txBox="1"/>
          <p:nvPr/>
        </p:nvSpPr>
        <p:spPr>
          <a:xfrm>
            <a:off x="270710" y="174744"/>
            <a:ext cx="1151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最后点击确定按钮</a:t>
            </a:r>
            <a:r>
              <a:rPr lang="zh-CN" altLang="en-US"/>
              <a:t>进行过滤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E1E028-17B6-C699-95CC-4B5047C3B286}"/>
              </a:ext>
            </a:extLst>
          </p:cNvPr>
          <p:cNvSpPr/>
          <p:nvPr/>
        </p:nvSpPr>
        <p:spPr>
          <a:xfrm>
            <a:off x="2463396" y="342900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BD12C7C-C7EB-F72A-7977-55560D8372D7}"/>
              </a:ext>
            </a:extLst>
          </p:cNvPr>
          <p:cNvCxnSpPr>
            <a:cxnSpLocks/>
          </p:cNvCxnSpPr>
          <p:nvPr/>
        </p:nvCxnSpPr>
        <p:spPr>
          <a:xfrm flipV="1">
            <a:off x="3066585" y="3359766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7EC62A4-DB33-12CF-E7D3-5C7BAFF43E2B}"/>
              </a:ext>
            </a:extLst>
          </p:cNvPr>
          <p:cNvSpPr txBox="1"/>
          <p:nvPr/>
        </p:nvSpPr>
        <p:spPr>
          <a:xfrm>
            <a:off x="4070742" y="3128901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确定按钮大概上这个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4F6FFB-FFE3-7C4A-FEDD-B4CFF3B1F6D3}"/>
              </a:ext>
            </a:extLst>
          </p:cNvPr>
          <p:cNvSpPr/>
          <p:nvPr/>
        </p:nvSpPr>
        <p:spPr>
          <a:xfrm>
            <a:off x="2463395" y="391642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A89EFB9-D89E-B1E2-F9FF-228A26701F56}"/>
              </a:ext>
            </a:extLst>
          </p:cNvPr>
          <p:cNvCxnSpPr>
            <a:cxnSpLocks/>
          </p:cNvCxnSpPr>
          <p:nvPr/>
        </p:nvCxnSpPr>
        <p:spPr>
          <a:xfrm>
            <a:off x="3066584" y="4158744"/>
            <a:ext cx="1004158" cy="2308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4956558-828E-E6C0-83CC-D18CCB06484C}"/>
              </a:ext>
            </a:extLst>
          </p:cNvPr>
          <p:cNvSpPr txBox="1"/>
          <p:nvPr/>
        </p:nvSpPr>
        <p:spPr>
          <a:xfrm>
            <a:off x="4070742" y="4158744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这是啥？清除按钮？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B02B82-F1E3-61FE-78CA-65550BDC9E63}"/>
              </a:ext>
            </a:extLst>
          </p:cNvPr>
          <p:cNvSpPr/>
          <p:nvPr/>
        </p:nvSpPr>
        <p:spPr>
          <a:xfrm>
            <a:off x="2463395" y="1758888"/>
            <a:ext cx="458226" cy="27063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07F9A0-ADBE-8EF9-6385-64087138071B}"/>
              </a:ext>
            </a:extLst>
          </p:cNvPr>
          <p:cNvSpPr txBox="1"/>
          <p:nvPr/>
        </p:nvSpPr>
        <p:spPr>
          <a:xfrm>
            <a:off x="3843340" y="1951659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这个下载按钮是下载过滤后的数据信息的吗？待定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6FEE6FB-6AD7-54E5-B9A1-672F71A09564}"/>
              </a:ext>
            </a:extLst>
          </p:cNvPr>
          <p:cNvCxnSpPr>
            <a:cxnSpLocks/>
          </p:cNvCxnSpPr>
          <p:nvPr/>
        </p:nvCxnSpPr>
        <p:spPr>
          <a:xfrm>
            <a:off x="2921621" y="1940200"/>
            <a:ext cx="1004157" cy="18132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CEBCCCE-54FC-1CFB-974A-987FE4312367}"/>
              </a:ext>
            </a:extLst>
          </p:cNvPr>
          <p:cNvSpPr/>
          <p:nvPr/>
        </p:nvSpPr>
        <p:spPr>
          <a:xfrm>
            <a:off x="2463395" y="1300164"/>
            <a:ext cx="458226" cy="3667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8794A9F-0913-B480-A224-7F6C05B02B5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921621" y="1295857"/>
            <a:ext cx="921719" cy="1876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3589AA6-2481-885A-8A1A-D63F42020A3B}"/>
              </a:ext>
            </a:extLst>
          </p:cNvPr>
          <p:cNvSpPr txBox="1"/>
          <p:nvPr/>
        </p:nvSpPr>
        <p:spPr>
          <a:xfrm>
            <a:off x="3925778" y="1067406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不知道是啥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926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4871</Words>
  <Application>Microsoft Office PowerPoint</Application>
  <PresentationFormat>宽屏</PresentationFormat>
  <Paragraphs>386</Paragraphs>
  <Slides>34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-apple-system</vt:lpstr>
      <vt:lpstr>DeepSeek-CJK-patch</vt:lpstr>
      <vt:lpstr>Helvetica Neue</vt:lpstr>
      <vt:lpstr>PingFang SC</vt:lpstr>
      <vt:lpstr>等线</vt:lpstr>
      <vt:lpstr>等线 Light</vt:lpstr>
      <vt:lpstr>Arial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Taoran Cheng</dc:creator>
  <cp:lastModifiedBy>Xiaochuan Wang</cp:lastModifiedBy>
  <cp:revision>48</cp:revision>
  <dcterms:created xsi:type="dcterms:W3CDTF">2025-03-26T01:25:33Z</dcterms:created>
  <dcterms:modified xsi:type="dcterms:W3CDTF">2025-06-16T05:09:13Z</dcterms:modified>
</cp:coreProperties>
</file>